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91" r:id="rId29"/>
    <p:sldId id="283" r:id="rId30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JetBrains Mono" panose="020B0604020202020204" charset="0"/>
      <p:regular r:id="rId36"/>
      <p:bold r:id="rId37"/>
      <p:italic r:id="rId38"/>
      <p:boldItalic r:id="rId39"/>
    </p:embeddedFont>
    <p:embeddedFont>
      <p:font typeface="Plus Jakarta Sans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64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68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lizaemulator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33400" y="266700"/>
            <a:ext cx="141550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33400" y="2852737"/>
            <a:ext cx="3581400" cy="15240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305300" y="2852737"/>
            <a:ext cx="3581400" cy="15240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077200" y="2852737"/>
            <a:ext cx="3581400" cy="15240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33400" y="436721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33400" y="2852737"/>
            <a:ext cx="35814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33400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4105275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305300" y="436721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305300" y="2852737"/>
            <a:ext cx="3581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305300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877175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8077200" y="4367212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077200" y="2852737"/>
            <a:ext cx="35814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8077200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1649075" y="2852737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47700" y="314325"/>
            <a:ext cx="128215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 PROFILE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0258425" y="304800"/>
            <a:ext cx="17502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CSE TECHNICAL SEMINAR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0706100" y="650557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• PRESENTER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33400" y="657225"/>
            <a:ext cx="11658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33400" y="1200150"/>
            <a:ext cx="11658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Senior AI Engineer | Cognizant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Today's Objective: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Demystify the mechanics from subword tokens to protocols that allow models to act in the physical world.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752475" y="3052762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752475" y="3271837"/>
            <a:ext cx="412551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6+ Years in </a:t>
            </a:r>
            <a:r>
              <a:rPr lang="en-US" sz="1500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Shipping AI Systems</a:t>
            </a:r>
            <a:endParaRPr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752475" y="3586162"/>
            <a:ext cx="3238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Specializing in applied machine learning, production generative AI pipelines, and distributed engineering runtimes.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524375" y="3041837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Talk ?</a:t>
            </a:r>
            <a:endParaRPr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4524375" y="3271837"/>
            <a:ext cx="412551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/>
                <a:cs typeface="Plus Jakarta Sans"/>
                <a:sym typeface="Plus Jakarta Sans"/>
              </a:rPr>
              <a:t>From the Job, Not the Docs</a:t>
            </a:r>
            <a:endParaRPr lang="en-US" dirty="0"/>
          </a:p>
        </p:txBody>
      </p:sp>
      <p:sp>
        <p:nvSpPr>
          <p:cNvPr id="115" name="Google Shape;115;p13"/>
          <p:cNvSpPr txBox="1"/>
          <p:nvPr/>
        </p:nvSpPr>
        <p:spPr>
          <a:xfrm>
            <a:off x="4524375" y="3595687"/>
            <a:ext cx="3238500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Five years shipping GenAI and agentic systems. Everything in the second half comes from tool orchestration that broke in production.</a:t>
            </a:r>
            <a:endParaRPr lang="en-US"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8296275" y="3052762"/>
            <a:ext cx="3895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Background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8296275" y="3271837"/>
            <a:ext cx="38957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CSE Grad → Production AI</a:t>
            </a:r>
            <a:endParaRPr lang="en-US" dirty="0"/>
          </a:p>
        </p:txBody>
      </p:sp>
      <p:sp>
        <p:nvSpPr>
          <p:cNvPr id="118" name="Google Shape;118;p13"/>
          <p:cNvSpPr txBox="1"/>
          <p:nvPr/>
        </p:nvSpPr>
        <p:spPr>
          <a:xfrm>
            <a:off x="8296275" y="3586162"/>
            <a:ext cx="3238500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 Computer Science → Data Analyst → Data Scientist → AI Engineer. Five years, three companies, one direction.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685800" y="5762625"/>
            <a:ext cx="108204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5800" y="2170360"/>
            <a:ext cx="3009900" cy="314325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685800" y="57626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85800" y="533400"/>
            <a:ext cx="495895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CSE SENIOR TECHNICAL SEMINAR • 2-HOUR MASTERCLASS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705850" y="538162"/>
            <a:ext cx="3486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CODE &amp; ARCHITECTURAL EXPLORATION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00100" y="2217985"/>
            <a:ext cx="2876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TRANSFORMERS → AGENTS → THE MCP PROTOCOL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85800" y="2637085"/>
            <a:ext cx="11461432" cy="96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Large Language Models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Model Context Protocol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85800" y="3753296"/>
            <a:ext cx="9239250" cy="52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predicting the next token to building connected AI systems that can safely query data and execute actions.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85800" y="5962650"/>
            <a:ext cx="216693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85800" y="6172200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Senior AI Engineer • Cognizant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7524750" y="6048375"/>
            <a:ext cx="213121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FORMAT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7524750" y="6172200"/>
            <a:ext cx="21312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Lecture &amp; Demos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572625" y="6048375"/>
            <a:ext cx="241696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572625" y="6172200"/>
            <a:ext cx="24169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Foundations + MCP Protocol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33400" y="266700"/>
            <a:ext cx="1390650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33400" y="2783532"/>
            <a:ext cx="3581400" cy="1481435"/>
          </a:xfrm>
          <a:prstGeom prst="roundRect">
            <a:avLst>
              <a:gd name="adj" fmla="val 64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305300" y="2783532"/>
            <a:ext cx="3581400" cy="1481435"/>
          </a:xfrm>
          <a:prstGeom prst="roundRect">
            <a:avLst>
              <a:gd name="adj" fmla="val 64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077200" y="2783532"/>
            <a:ext cx="3581400" cy="1481435"/>
          </a:xfrm>
          <a:prstGeom prst="roundRect">
            <a:avLst>
              <a:gd name="adj" fmla="val 64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752475" y="2964507"/>
            <a:ext cx="775394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24375" y="2964507"/>
            <a:ext cx="803969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8296275" y="2964507"/>
            <a:ext cx="80396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47700" y="314325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SEMINAR ROADMAP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1039475" y="304800"/>
            <a:ext cx="904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ROUTE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753725" y="6505575"/>
            <a:ext cx="1190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• ROADMAP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Route: Understand the Model, Then Connect It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2-hour session: foundational mechanics, interactive audience experiments, and protocol architecture.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Timing Plan:</a:t>
            </a: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~40 min LLM Foundations • 5 min Break • ~</a:t>
            </a:r>
            <a:r>
              <a:rPr lang="en-US" sz="975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</a:t>
            </a: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min MCP Concepts • Demos, Discussion &amp; Q&amp;A</a:t>
            </a:r>
            <a:endParaRPr dirty="0"/>
          </a:p>
        </p:txBody>
      </p:sp>
      <p:sp>
        <p:nvSpPr>
          <p:cNvPr id="158" name="Google Shape;158;p15"/>
          <p:cNvSpPr txBox="1"/>
          <p:nvPr/>
        </p:nvSpPr>
        <p:spPr>
          <a:xfrm>
            <a:off x="866775" y="3012132"/>
            <a:ext cx="64204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01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752475" y="3259782"/>
            <a:ext cx="412551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Reality Check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52475" y="3545532"/>
            <a:ext cx="3238500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small task that exposes the fundamental difference between fluent natural language output and verified computation.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638675" y="3012132"/>
            <a:ext cx="67061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02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524375" y="3259782"/>
            <a:ext cx="412551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Inside the LLM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524375" y="3545532"/>
            <a:ext cx="3238500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Historical evolution, BPE tokenization, vector embeddings, contextual self-attention, and the autoregressive decoding loop.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410575" y="3012132"/>
            <a:ext cx="67061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03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296275" y="3259782"/>
            <a:ext cx="389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&amp; Connected Systems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296275" y="3545532"/>
            <a:ext cx="3238500" cy="652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 * M integration problem, host-client-server architecture, capability types, and end-to-end execution lifecycle.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33400" y="266700"/>
            <a:ext cx="1537394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33400" y="5848350"/>
            <a:ext cx="111252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305175" y="1879996"/>
            <a:ext cx="5581650" cy="619125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33400" y="3916560"/>
            <a:ext cx="3606849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292649" y="3916560"/>
            <a:ext cx="3606849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8051899" y="3916560"/>
            <a:ext cx="3606849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47700" y="314325"/>
            <a:ext cx="140404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OPENING EXPERIMENT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0239375" y="304800"/>
            <a:ext cx="177403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OBSERVATION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0448925" y="6505575"/>
            <a:ext cx="15120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• REALITY CHECK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256484" y="657225"/>
            <a:ext cx="367903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SIMPLE QUESTION TO AN ADVANCED LLM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45281" y="923925"/>
            <a:ext cx="11501437" cy="822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“How many times does the letter </a:t>
            </a:r>
            <a:r>
              <a:rPr lang="en-US" sz="27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appear in reverberere?”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2988468" y="2013346"/>
            <a:ext cx="621506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r-e-v-e-r-b-e-r-e-r-e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821656" y="2613421"/>
            <a:ext cx="854868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the room to count manually before showing the model's responses. Count it: exactly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letters 'e'.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42950" y="4088010"/>
            <a:ext cx="3282999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TRIAL 1: DIRECT COUNT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502199" y="4088010"/>
            <a:ext cx="3282999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TRIAL 2: SPELL &amp; COUNT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8261449" y="4088010"/>
            <a:ext cx="3282999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TRIAL 3: SPATIAL GRID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704850" y="5943600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 Cue: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Pause and ask the room: </a:t>
            </a:r>
            <a:r>
              <a:rPr lang="en-US" sz="975" b="0" i="1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“If the explanation and the final answer disagree, which one does an engineer trust?”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Neither by default.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52475" y="4335660"/>
            <a:ext cx="32639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Emits: </a:t>
            </a:r>
            <a:r>
              <a:rPr lang="en-US" sz="975" b="0" i="1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“The letter 'e' appears 5 times in 'reverberere'.”</a:t>
            </a:r>
            <a:r>
              <a:rPr lang="en-US" sz="97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 direct statistical guess happened to match)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511724" y="4335660"/>
            <a:ext cx="32639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accurately writes every letter out, then concludes: </a:t>
            </a:r>
            <a:r>
              <a:rPr lang="en-US" sz="975" b="0" i="1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“Therefore, exactly 6 times.”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270974" y="4335660"/>
            <a:ext cx="32639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Supplying a spaced string produced yet another conflicting count across temperature seeds.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33400" y="266700"/>
            <a:ext cx="1360289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533400" y="2807493"/>
            <a:ext cx="3581400" cy="1433512"/>
          </a:xfrm>
          <a:prstGeom prst="roundRect">
            <a:avLst>
              <a:gd name="adj" fmla="val 66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4305300" y="2807493"/>
            <a:ext cx="3581400" cy="1433512"/>
          </a:xfrm>
          <a:prstGeom prst="roundRect">
            <a:avLst>
              <a:gd name="adj" fmla="val 66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8077200" y="2807493"/>
            <a:ext cx="3581400" cy="1433512"/>
          </a:xfrm>
          <a:prstGeom prst="roundRect">
            <a:avLst>
              <a:gd name="adj" fmla="val 66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33400" y="4231481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33400" y="2807493"/>
            <a:ext cx="35814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33400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105275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305300" y="4231481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305300" y="2807493"/>
            <a:ext cx="3581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305300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877175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8077200" y="4231481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8077200" y="2807493"/>
            <a:ext cx="35814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077200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11649075" y="2807493"/>
            <a:ext cx="9525" cy="1433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647700" y="314325"/>
            <a:ext cx="122693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EPISTEMIC LESSON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0106025" y="304800"/>
            <a:ext cx="19407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PERSPECTIVE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10234612" y="6505575"/>
            <a:ext cx="177998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• EPISTEMIC LESSON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Lesson is NOT “LLMs Can’t Count”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the observed transcript; emphasize verification, not a universal failure claim.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Transition: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What is the model actually doing when it produces an answer? Let's trace how machines came to represent language.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752475" y="3007518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FLUENCY ≠ FACT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752475" y="3226593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Syntactic Coherence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752475" y="3502818"/>
            <a:ext cx="3238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grammatically confident sentence can still contain a wrong result. Fluency is likelihood, not verification.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524375" y="3007518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PROCESS ≠ PROOF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4524375" y="3226593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Chain-of-Thought Limits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4524375" y="3502818"/>
            <a:ext cx="323850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written step-by-step explanation may contradict its own final answer because steps are still statistical token predictions.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8296275" y="3007518"/>
            <a:ext cx="3895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ENGINEERING RESPONSE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8296275" y="3226593"/>
            <a:ext cx="3895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 Delegation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8296275" y="3502818"/>
            <a:ext cx="323850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exact string parsing, math, or lookups, route the request to deterministic code or tools via an independent check.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33400" y="266700"/>
            <a:ext cx="150688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33400" y="2814637"/>
            <a:ext cx="2118419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2785169" y="2814637"/>
            <a:ext cx="2118419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036939" y="2814637"/>
            <a:ext cx="2118419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7288708" y="2814637"/>
            <a:ext cx="2118419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9540478" y="2814637"/>
            <a:ext cx="2118419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752475" y="2995612"/>
            <a:ext cx="893564" cy="219075"/>
          </a:xfrm>
          <a:prstGeom prst="roundRect">
            <a:avLst>
              <a:gd name="adj" fmla="val 26086"/>
            </a:avLst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3004244" y="2995612"/>
            <a:ext cx="162505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256014" y="2995612"/>
            <a:ext cx="1369814" cy="219075"/>
          </a:xfrm>
          <a:prstGeom prst="roundRect">
            <a:avLst>
              <a:gd name="adj" fmla="val 26086"/>
            </a:avLst>
          </a:prstGeom>
          <a:solidFill>
            <a:srgbClr val="FCE7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7507783" y="2995612"/>
            <a:ext cx="144407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9759553" y="2995612"/>
            <a:ext cx="1183034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647700" y="314325"/>
            <a:ext cx="137353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HISTORICAL TIMELINE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10706100" y="30480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1966 TO PRESENT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10839450" y="6505575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• HISTORY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Today's LLMs: A Short History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rule-based conversation to statistical learning and pretrained transformers: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Distinction: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ELIZA is a useful starting point for conversational interfaces, though foundational AI research began in the 1950s.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866775" y="3043237"/>
            <a:ext cx="76021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1966: ELIZA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752475" y="3271837"/>
            <a:ext cx="220535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Rule Pattern Matching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752475" y="3500437"/>
            <a:ext cx="17755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Decomposition scripts and keyword pronoun swaps. An early chatbot, not the birth of AI.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3118544" y="3043237"/>
            <a:ext cx="149170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1990S: STATISTICAL NLP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3004244" y="3271837"/>
            <a:ext cx="220535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N-Grams &amp; Classifiers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3004244" y="3500437"/>
            <a:ext cx="177551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Markov count tables. Suffered catastrophic dimensionality blow-up beyond 3 words.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370314" y="3043237"/>
            <a:ext cx="123646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2013: EMBEDDINGS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5256014" y="3271837"/>
            <a:ext cx="220535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Word2Vec Geometry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5256014" y="3500437"/>
            <a:ext cx="177551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Learned continuous representations, but fixed a single static vector per word.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7622083" y="3043237"/>
            <a:ext cx="131072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2017: TRANSFORMER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7507783" y="3271837"/>
            <a:ext cx="220535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Self-Attention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7507783" y="3500437"/>
            <a:ext cx="17755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Replaced sequential recurrence with parallel attention. Unlocked massive GPU clusters.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9873853" y="3043237"/>
            <a:ext cx="104968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2018→: GPT ERA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9759553" y="3271837"/>
            <a:ext cx="220535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Pretrain &amp; Scale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9759553" y="3500437"/>
            <a:ext cx="177551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Autoregressive scaling laws + RLHF instruction tuning created generalized assistants.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33400" y="266700"/>
            <a:ext cx="1215479" cy="219075"/>
          </a:xfrm>
          <a:prstGeom prst="roundRect">
            <a:avLst>
              <a:gd name="adj" fmla="val 26086"/>
            </a:avLst>
          </a:prstGeom>
          <a:solidFill>
            <a:srgbClr val="FCE7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533400" y="5829300"/>
            <a:ext cx="11125200" cy="361950"/>
          </a:xfrm>
          <a:prstGeom prst="roundRect">
            <a:avLst>
              <a:gd name="adj" fmla="val 21052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533400" y="2562225"/>
            <a:ext cx="5399484" cy="1962150"/>
          </a:xfrm>
          <a:prstGeom prst="roundRect">
            <a:avLst>
              <a:gd name="adj" fmla="val 4854"/>
            </a:avLst>
          </a:prstGeom>
          <a:solidFill>
            <a:srgbClr val="090D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6142434" y="2562225"/>
            <a:ext cx="5516165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6142434" y="3552825"/>
            <a:ext cx="5516165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47700" y="314325"/>
            <a:ext cx="108212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1966: ELIZA (MIT)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0420350" y="304800"/>
            <a:ext cx="15478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JOSEPH WEIZENBAUM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0348912" y="6505575"/>
            <a:ext cx="163710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• THE ELIZA EFFECT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1966: A Program With No Idea What You Meant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Weizenbaum wrote ELIZA to demonstrate how shallow automated communication really was: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714375" y="5934075"/>
            <a:ext cx="11477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ELIZA Effect:</a:t>
            </a:r>
            <a:r>
              <a:rPr lang="en-US" sz="975" b="0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Sixty years later, this psychological tendency is still the primary reason humans over-trust conversational interfaces.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704850" y="2733675"/>
            <a:ext cx="632073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HISTORICAL 1966 TRANSCRIPT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704850" y="2981325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Men are all alike.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704850" y="3200400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WHAT WAY?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704850" y="3476625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They're always bugging us about something.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704850" y="3695700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 YOU THINK OF A SPECIFIC EXAMPLE?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704850" y="3971925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Well, my boyfriend made me come here.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704850" y="4191000"/>
            <a:ext cx="632073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YOUR BOYFRIEND MADE YOU COME HERE?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351984" y="2733675"/>
            <a:ext cx="51923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Worked: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6351984" y="3724275"/>
            <a:ext cx="51923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Understanding: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6361509" y="2952750"/>
            <a:ext cx="517326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Pattern match on keywords, flip the pronouns (my → your), and ask it back as a question. A few hundred static rules.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6361509" y="3943350"/>
            <a:ext cx="517326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model, no learning, no representation of meaning. Yet people confided their deepest secrets into it anyway.</a:t>
            </a: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48DCC-67A1-4177-B1DD-E9E7DCFEF0E1}"/>
              </a:ext>
            </a:extLst>
          </p:cNvPr>
          <p:cNvSpPr txBox="1"/>
          <p:nvPr/>
        </p:nvSpPr>
        <p:spPr>
          <a:xfrm>
            <a:off x="5169094" y="5065812"/>
            <a:ext cx="1527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Lets try it out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33400" y="266700"/>
            <a:ext cx="1386929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533400" y="2928937"/>
            <a:ext cx="5262562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376987" y="2919412"/>
            <a:ext cx="5281612" cy="1209675"/>
          </a:xfrm>
          <a:prstGeom prst="roundRect">
            <a:avLst>
              <a:gd name="adj" fmla="val 7874"/>
            </a:avLst>
          </a:prstGeom>
          <a:solidFill>
            <a:srgbClr val="F0F7FF"/>
          </a:solidFill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6462" y="34099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475" y="3128962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5587" y="3128962"/>
            <a:ext cx="1047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/>
        </p:nvSpPr>
        <p:spPr>
          <a:xfrm>
            <a:off x="647700" y="314325"/>
            <a:ext cx="125357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TURNING POINT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9401175" y="304800"/>
            <a:ext cx="2790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VASWANI ET AL., GOOGLE BRAIN (2017)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9696450" y="6505575"/>
            <a:ext cx="24526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• ATTENTION IS ALL YOU NEED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“Attention Is All You Need” &amp; The Parallel Paradigm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modern AI revolution traces back to ditching sequential recurrence for parallel self-attention: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Architectural Caveat:</a:t>
            </a:r>
            <a:r>
              <a:rPr lang="en-US" sz="975" b="0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2017 paper was an encoder-decoder for translation. GPT-style models are decoder-only autoregressive transformers.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752475" y="3109912"/>
            <a:ext cx="603051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BEFORE: SEQUENTIAL RNNs &amp; LSTMs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752475" y="3328987"/>
            <a:ext cx="603051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Sequential processing: Token t is blocked until token t−1 finishes.</a:t>
            </a:r>
            <a:endParaRPr lang="en-US" dirty="0"/>
          </a:p>
        </p:txBody>
      </p:sp>
      <p:sp>
        <p:nvSpPr>
          <p:cNvPr id="324" name="Google Shape;324;p20"/>
          <p:cNvSpPr txBox="1"/>
          <p:nvPr/>
        </p:nvSpPr>
        <p:spPr>
          <a:xfrm>
            <a:off x="752475" y="3557587"/>
            <a:ext cx="603051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GPUs sat idle waiting on recurring hidden state updates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752475" y="3786187"/>
            <a:ext cx="603051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Long-range dependencies decayed exponentially over distance</a:t>
            </a:r>
            <a:endParaRPr dirty="0"/>
          </a:p>
        </p:txBody>
      </p:sp>
      <p:sp>
        <p:nvSpPr>
          <p:cNvPr id="326" name="Google Shape;326;p20"/>
          <p:cNvSpPr txBox="1"/>
          <p:nvPr/>
        </p:nvSpPr>
        <p:spPr>
          <a:xfrm>
            <a:off x="6605587" y="3109912"/>
            <a:ext cx="55864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AFTER: PARALLEL SELF-ATTENTION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605587" y="3328987"/>
            <a:ext cx="55864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token computes attention against all tokens simultaneously (O(1) path)</a:t>
            </a:r>
            <a:endParaRPr lang="en-US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6605587" y="3557587"/>
            <a:ext cx="55864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Highly parallelized matrix multiplication across tens of thousands of GPUs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6605587" y="3786187"/>
            <a:ext cx="55864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Enabled pre-training on multi-trillion token internet-scale corpora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33400" y="266700"/>
            <a:ext cx="1621184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33400" y="5848350"/>
            <a:ext cx="111252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33400" y="2609850"/>
            <a:ext cx="5053458" cy="1885950"/>
          </a:xfrm>
          <a:prstGeom prst="roundRect">
            <a:avLst>
              <a:gd name="adj" fmla="val 505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777358" y="2428875"/>
            <a:ext cx="5881241" cy="2247900"/>
          </a:xfrm>
          <a:prstGeom prst="roundRect">
            <a:avLst>
              <a:gd name="adj" fmla="val 4237"/>
            </a:avLst>
          </a:prstGeom>
          <a:solidFill>
            <a:srgbClr val="090D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752475" y="3495675"/>
            <a:ext cx="4615308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948808" y="2800350"/>
            <a:ext cx="5538341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5948808" y="3152775"/>
            <a:ext cx="5538341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5948808" y="3505200"/>
            <a:ext cx="5538341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948808" y="3857625"/>
            <a:ext cx="5538341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5948808" y="4210050"/>
            <a:ext cx="5538341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47700" y="314325"/>
            <a:ext cx="148783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10563225" y="304800"/>
            <a:ext cx="1381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5-LAYER STACK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10744200" y="6505575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 • LLM STACK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an LLM? The Modern Engineering Stack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statistical function approximator parameterized by billions of weights ($W$):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704850" y="5943600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 Cue: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Today we inspect layers 1, 2, and 5 to master how tokens turn into thoughts and external actions.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752475" y="2790825"/>
            <a:ext cx="576913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MATHEMATICAL FORMULATION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752475" y="3028950"/>
            <a:ext cx="4710558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LLM computes conditional probability distributions over an explicit vocabulary V:</a:t>
            </a:r>
            <a:endParaRPr dirty="0"/>
          </a:p>
        </p:txBody>
      </p:sp>
      <p:sp>
        <p:nvSpPr>
          <p:cNvPr id="355" name="Google Shape;355;p21"/>
          <p:cNvSpPr txBox="1"/>
          <p:nvPr/>
        </p:nvSpPr>
        <p:spPr>
          <a:xfrm>
            <a:off x="270811" y="3590925"/>
            <a:ext cx="557863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P(wt​∣w1​,w2​,…,wt−1​)</a:t>
            </a:r>
            <a:endParaRPr lang="pl-PL" dirty="0"/>
          </a:p>
        </p:txBody>
      </p:sp>
      <p:sp>
        <p:nvSpPr>
          <p:cNvPr id="356" name="Google Shape;356;p21"/>
          <p:cNvSpPr txBox="1"/>
          <p:nvPr/>
        </p:nvSpPr>
        <p:spPr>
          <a:xfrm>
            <a:off x="752475" y="4010025"/>
            <a:ext cx="47105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has no internal database lookup. It projects activation vectors through an unembedding matrix $W_u$ into logits normalized by Softmax.</a:t>
            </a: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5948808" y="2600325"/>
            <a:ext cx="6243191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5-LAYER LLM STACK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6063108" y="2867025"/>
            <a:ext cx="540499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Application &amp; Protocol Layer:</a:t>
            </a:r>
            <a:r>
              <a:rPr lang="en-US" sz="900" b="0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Prompts, MCP Clients, Tools, Agents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6063108" y="3219450"/>
            <a:ext cx="540499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Serving Runtime:</a:t>
            </a:r>
            <a:r>
              <a:rPr lang="en-US" sz="900" b="0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vLLM, TensorRT-LLM, KV Cache memory managers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6063108" y="3571875"/>
            <a:ext cx="540499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Alignment &amp; Reasoning:</a:t>
            </a:r>
            <a:r>
              <a:rPr lang="en-US" sz="900" b="0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SFT, RLHF, DPO, Chain-of-Thought</a:t>
            </a:r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6063108" y="3924300"/>
            <a:ext cx="540499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Transformer Core:</a:t>
            </a:r>
            <a:r>
              <a:rPr lang="en-US" sz="900" b="0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Multi-Head Attention, RoPE, MLP / SwiGLU blocks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6063108" y="4276725"/>
            <a:ext cx="540499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Tokenization &amp; Embeddings:</a:t>
            </a:r>
            <a:r>
              <a:rPr lang="en-US" sz="900" b="0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BPE Tokenizer, Lookup Matrices ($W_e, W_u$)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533400" y="266700"/>
            <a:ext cx="166121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533400" y="2509837"/>
            <a:ext cx="11125200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52475" y="3357562"/>
            <a:ext cx="106870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533400" y="5076825"/>
            <a:ext cx="36068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292649" y="5076825"/>
            <a:ext cx="36068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8051899" y="5076825"/>
            <a:ext cx="3606849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752475" y="2928937"/>
            <a:ext cx="476250" cy="333375"/>
          </a:xfrm>
          <a:prstGeom prst="roundRect">
            <a:avLst>
              <a:gd name="adj" fmla="val 17142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1323975" y="2928937"/>
            <a:ext cx="685800" cy="333375"/>
          </a:xfrm>
          <a:prstGeom prst="roundRect">
            <a:avLst>
              <a:gd name="adj" fmla="val 17142"/>
            </a:avLst>
          </a:prstGeom>
          <a:solidFill>
            <a:srgbClr val="FCE7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2105025" y="2928937"/>
            <a:ext cx="476250" cy="333375"/>
          </a:xfrm>
          <a:prstGeom prst="roundRect">
            <a:avLst>
              <a:gd name="adj" fmla="val 17142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2676525" y="2928937"/>
            <a:ext cx="581025" cy="333375"/>
          </a:xfrm>
          <a:prstGeom prst="roundRect">
            <a:avLst>
              <a:gd name="adj" fmla="val 17142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752475" y="3357562"/>
            <a:ext cx="106870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647700" y="314325"/>
            <a:ext cx="152786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THE INPUT STAGE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10144125" y="304800"/>
            <a:ext cx="18930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BYTE PAIR ENCODING (BPE)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10510837" y="6505575"/>
            <a:ext cx="143470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• TOKENIZATION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 Does Not Enter as Characters or Words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Models never receive strings. A deterministic tokenizer compresses text into subword integer IDs: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752475" y="2690812"/>
            <a:ext cx="114395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STRING: "reverberere"</a:t>
            </a: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742950" y="5248275"/>
            <a:ext cx="3282999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"</a:t>
            </a:r>
            <a:r>
              <a:rPr lang="en-US" sz="975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reverberere</a:t>
            </a: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 failed: </a:t>
            </a:r>
            <a:r>
              <a:rPr lang="en-US" sz="900" b="1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saw 4 token vectors, not 11 individual letters. Character counting requires synthetic internal reconstruction.</a:t>
            </a:r>
            <a:endParaRPr dirty="0"/>
          </a:p>
        </p:txBody>
      </p:sp>
      <p:sp>
        <p:nvSpPr>
          <p:cNvPr id="388" name="Google Shape;388;p22"/>
          <p:cNvSpPr txBox="1"/>
          <p:nvPr/>
        </p:nvSpPr>
        <p:spPr>
          <a:xfrm>
            <a:off x="4502199" y="5248275"/>
            <a:ext cx="3282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Arithmetic Artifacts: </a:t>
            </a:r>
            <a:r>
              <a:rPr lang="en-US" sz="9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"48291" may tokenize as [48, 291] or [4, 82, 91], which makes multi-digit math irregular across different model tokenizers.</a:t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8261449" y="5248275"/>
            <a:ext cx="3282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Multilingual Token Tax: </a:t>
            </a:r>
            <a:r>
              <a:rPr lang="en-US" sz="9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Tamil, Hindi, and Japanese often consume 4x–8x more tokens per word due to UTF-8 byte-level fallback.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885825" y="2986087"/>
            <a:ext cx="30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</a:t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1457325" y="2986087"/>
            <a:ext cx="5143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D174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verb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2238375" y="2986087"/>
            <a:ext cx="30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</a:t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2809875" y="2986087"/>
            <a:ext cx="409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ere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752475" y="3471862"/>
            <a:ext cx="15478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MAPPED INTEGER IDs: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2105025" y="3443287"/>
            <a:ext cx="2976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[ 402, 18942, 340, 2911 ]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533400" y="266700"/>
            <a:ext cx="175081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33400" y="2805112"/>
            <a:ext cx="11125200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533400" y="5162550"/>
            <a:ext cx="36068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292649" y="5162550"/>
            <a:ext cx="36068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8051899" y="5162550"/>
            <a:ext cx="36068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605337" y="3043237"/>
            <a:ext cx="647700" cy="333375"/>
          </a:xfrm>
          <a:prstGeom prst="roundRect">
            <a:avLst>
              <a:gd name="adj" fmla="val 11428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329237" y="3043237"/>
            <a:ext cx="1066800" cy="333375"/>
          </a:xfrm>
          <a:prstGeom prst="roundRect">
            <a:avLst>
              <a:gd name="adj" fmla="val 11428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6472237" y="3043237"/>
            <a:ext cx="857250" cy="333375"/>
          </a:xfrm>
          <a:prstGeom prst="roundRect">
            <a:avLst>
              <a:gd name="adj" fmla="val 11428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1487" y="31242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0937" y="312420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3"/>
          <p:cNvSpPr txBox="1"/>
          <p:nvPr/>
        </p:nvSpPr>
        <p:spPr>
          <a:xfrm>
            <a:off x="647700" y="314325"/>
            <a:ext cx="161746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TOKENIZATION DYNAMICS</a:t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10258425" y="304800"/>
            <a:ext cx="17502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SUBWORD BOUNDARIES</a:t>
            </a:r>
            <a:endParaRPr/>
          </a:p>
        </p:txBody>
      </p:sp>
      <p:sp>
        <p:nvSpPr>
          <p:cNvPr id="414" name="Google Shape;414;p23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415" name="Google Shape;415;p23"/>
          <p:cNvSpPr txBox="1"/>
          <p:nvPr/>
        </p:nvSpPr>
        <p:spPr>
          <a:xfrm>
            <a:off x="10186987" y="6505575"/>
            <a:ext cx="183951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 • TOKEN BOUNDARIES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Tokenization Turns Text into IDs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Tokens are subword units; exact boundaries depend entirely on the tokenizer dictionary: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2376487" y="3071812"/>
            <a:ext cx="21669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“unbelievable”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824787" y="3100387"/>
            <a:ext cx="24884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[ 284, 39121, 621 ]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4719637" y="3100387"/>
            <a:ext cx="5143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“un”</a:t>
            </a:r>
            <a:endParaRPr/>
          </a:p>
        </p:txBody>
      </p:sp>
      <p:sp>
        <p:nvSpPr>
          <p:cNvPr id="421" name="Google Shape;421;p23"/>
          <p:cNvSpPr txBox="1"/>
          <p:nvPr/>
        </p:nvSpPr>
        <p:spPr>
          <a:xfrm>
            <a:off x="5443537" y="3100387"/>
            <a:ext cx="9334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“believ”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6586537" y="3100387"/>
            <a:ext cx="723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“able”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752475" y="5343525"/>
            <a:ext cx="41589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Subwords?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752475" y="5553075"/>
            <a:ext cx="32639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fixed vocabulary (typically 32k–128k) can represent common stems and assemble unfamiliar words with zero out-of-vocabulary errors.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4511724" y="5343525"/>
            <a:ext cx="41589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It Affects</a:t>
            </a:r>
            <a:endParaRPr/>
          </a:p>
        </p:txBody>
      </p:sp>
      <p:sp>
        <p:nvSpPr>
          <p:cNvPr id="426" name="Google Shape;426;p23"/>
          <p:cNvSpPr txBox="1"/>
          <p:nvPr/>
        </p:nvSpPr>
        <p:spPr>
          <a:xfrm>
            <a:off x="4511724" y="5553075"/>
            <a:ext cx="32639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token count directly dictates context window usage, inference latency, memory consumption, and API cost.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8270974" y="5343525"/>
            <a:ext cx="3921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Important Limit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8270974" y="5553075"/>
            <a:ext cx="32639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 boundaries do not align with character boundaries; spelling tasks, acronym parsing, and digit manipulation become tricky.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264459" y="2155627"/>
            <a:ext cx="11125200" cy="754260"/>
          </a:xfrm>
          <a:prstGeom prst="roundRect">
            <a:avLst>
              <a:gd name="adj" fmla="val 12628"/>
            </a:avLst>
          </a:prstGeom>
          <a:solidFill>
            <a:srgbClr val="F8FAFC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533400" y="3839170"/>
            <a:ext cx="5467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6191250" y="3839170"/>
            <a:ext cx="5467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9439275" y="2390179"/>
            <a:ext cx="523875" cy="314325"/>
          </a:xfrm>
          <a:prstGeom prst="roundRect">
            <a:avLst>
              <a:gd name="adj" fmla="val 12121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752475" y="4020145"/>
            <a:ext cx="939254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6410325" y="4020145"/>
            <a:ext cx="1701254" cy="219075"/>
          </a:xfrm>
          <a:prstGeom prst="roundRect">
            <a:avLst>
              <a:gd name="adj" fmla="val 26086"/>
            </a:avLst>
          </a:prstGeom>
          <a:solidFill>
            <a:srgbClr val="FCE7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-931209" y="2381889"/>
            <a:ext cx="12858750" cy="25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66" b="1" dirty="0">
                <a:solidFill>
                  <a:srgbClr val="182135"/>
                </a:solidFill>
                <a:latin typeface="Aptos"/>
              </a:rPr>
              <a:t>“The trophy did not fit in the suitcase because </a:t>
            </a:r>
            <a:r>
              <a:rPr sz="1666" b="1" dirty="0">
                <a:solidFill>
                  <a:srgbClr val="182135"/>
                </a:solidFill>
                <a:highlight>
                  <a:srgbClr val="FFFF00"/>
                </a:highlight>
                <a:latin typeface="Aptos"/>
              </a:rPr>
              <a:t>it</a:t>
            </a:r>
            <a:r>
              <a:rPr sz="1666" b="1" dirty="0">
                <a:solidFill>
                  <a:srgbClr val="182135"/>
                </a:solidFill>
                <a:latin typeface="Aptos"/>
              </a:rPr>
              <a:t> </a:t>
            </a:r>
            <a:r>
              <a:rPr lang="en-IN" sz="1666" b="1" dirty="0">
                <a:solidFill>
                  <a:srgbClr val="182135"/>
                </a:solidFill>
                <a:latin typeface="Aptos"/>
              </a:rPr>
              <a:t>was too big.</a:t>
            </a:r>
            <a:r>
              <a:rPr sz="1666" b="1" dirty="0">
                <a:solidFill>
                  <a:srgbClr val="182135"/>
                </a:solidFill>
                <a:latin typeface="Aptos"/>
              </a:rPr>
              <a:t>”</a:t>
            </a:r>
            <a:endParaRPr dirty="0"/>
          </a:p>
        </p:txBody>
      </p:sp>
      <p:sp>
        <p:nvSpPr>
          <p:cNvPr id="447" name="Google Shape;447;p24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448" name="Google Shape;448;p24"/>
          <p:cNvSpPr txBox="1"/>
          <p:nvPr/>
        </p:nvSpPr>
        <p:spPr>
          <a:xfrm>
            <a:off x="10163175" y="6505575"/>
            <a:ext cx="1869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• WINOGRAD ACTIVITY</a:t>
            </a:r>
            <a:endParaRPr/>
          </a:p>
        </p:txBody>
      </p:sp>
      <p:sp>
        <p:nvSpPr>
          <p:cNvPr id="449" name="Google Shape;449;p24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Word Each: The Winograd Schema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6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Have 13 students come to the front, each holding a card with one word:</a:t>
            </a:r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Takeaway:</a:t>
            </a:r>
            <a:r>
              <a:rPr lang="en-US" sz="984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Exactly the same sentence structure. One word changed at the end, yet every relational binding across the sequence rearranged.</a:t>
            </a:r>
            <a:endParaRPr/>
          </a:p>
        </p:txBody>
      </p:sp>
      <p:sp>
        <p:nvSpPr>
          <p:cNvPr id="454" name="Google Shape;454;p24"/>
          <p:cNvSpPr txBox="1"/>
          <p:nvPr/>
        </p:nvSpPr>
        <p:spPr>
          <a:xfrm>
            <a:off x="866775" y="4067770"/>
            <a:ext cx="80590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1: "BIG"</a:t>
            </a:r>
            <a:endParaRPr/>
          </a:p>
        </p:txBody>
      </p:sp>
      <p:sp>
        <p:nvSpPr>
          <p:cNvPr id="455" name="Google Shape;455;p24"/>
          <p:cNvSpPr txBox="1"/>
          <p:nvPr/>
        </p:nvSpPr>
        <p:spPr>
          <a:xfrm>
            <a:off x="752475" y="431542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4" b="1" i="0" u="none" strike="noStrike" cap="none" dirty="0">
                <a:solidFill>
                  <a:srgbClr val="854D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"it"</a:t>
            </a:r>
            <a:r>
              <a:rPr lang="en-US" sz="984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984" b="0" i="1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must you look at to know what you are?</a:t>
            </a:r>
            <a:endParaRPr dirty="0"/>
          </a:p>
        </p:txBody>
      </p:sp>
      <p:sp>
        <p:nvSpPr>
          <p:cNvPr id="456" name="Google Shape;456;p24"/>
          <p:cNvSpPr txBox="1"/>
          <p:nvPr/>
        </p:nvSpPr>
        <p:spPr>
          <a:xfrm>
            <a:off x="752475" y="4544020"/>
            <a:ext cx="6286500" cy="16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1" i="0" u="none" strike="noStrike" cap="none" dirty="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points at "trophy".</a:t>
            </a:r>
            <a:endParaRPr dirty="0"/>
          </a:p>
        </p:txBody>
      </p:sp>
      <p:sp>
        <p:nvSpPr>
          <p:cNvPr id="457" name="Google Shape;457;p24"/>
          <p:cNvSpPr txBox="1"/>
          <p:nvPr/>
        </p:nvSpPr>
        <p:spPr>
          <a:xfrm>
            <a:off x="6524625" y="4067770"/>
            <a:ext cx="156790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2: SWAP TO "SMALL"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6410325" y="4315420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4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Now swap "big" for </a:t>
            </a:r>
            <a:r>
              <a:rPr lang="en-US" sz="984" b="1" i="0" u="none" strike="noStrike" cap="none" dirty="0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"small"</a:t>
            </a:r>
            <a:r>
              <a:rPr lang="en-US" sz="984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"it" to point again:</a:t>
            </a:r>
            <a:endParaRPr dirty="0"/>
          </a:p>
        </p:txBody>
      </p:sp>
      <p:sp>
        <p:nvSpPr>
          <p:cNvPr id="459" name="Google Shape;459;p24"/>
          <p:cNvSpPr txBox="1"/>
          <p:nvPr/>
        </p:nvSpPr>
        <p:spPr>
          <a:xfrm>
            <a:off x="6410325" y="4544020"/>
            <a:ext cx="5781675" cy="16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1" i="0" u="none" strike="noStrike" cap="none" dirty="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points  at "suitcase".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9AC59-948B-4C28-97E2-E02A68BB1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869" y="2285405"/>
            <a:ext cx="790685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533400" y="266700"/>
            <a:ext cx="2000250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533400" y="3978175"/>
            <a:ext cx="1112520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533400" y="5848201"/>
            <a:ext cx="111252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533400" y="2146250"/>
            <a:ext cx="54768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6181725" y="2146250"/>
            <a:ext cx="54768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533400" y="3079700"/>
            <a:ext cx="547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533400" y="2146250"/>
            <a:ext cx="547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533400" y="2146250"/>
            <a:ext cx="38100" cy="9429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6000750" y="2146250"/>
            <a:ext cx="9525" cy="9429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181725" y="3079700"/>
            <a:ext cx="547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6181725" y="2146250"/>
            <a:ext cx="547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181725" y="2146250"/>
            <a:ext cx="38100" cy="9429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1649075" y="2146250"/>
            <a:ext cx="9525" cy="9429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514475" y="2489150"/>
            <a:ext cx="476250" cy="238125"/>
          </a:xfrm>
          <a:prstGeom prst="roundRect">
            <a:avLst>
              <a:gd name="adj" fmla="val 16000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7343775" y="2489150"/>
            <a:ext cx="476250" cy="238125"/>
          </a:xfrm>
          <a:prstGeom prst="roundRect">
            <a:avLst>
              <a:gd name="adj" fmla="val 16000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647700" y="314325"/>
            <a:ext cx="18669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VECTOR EMBEDDINGS</a:t>
            </a:r>
            <a:endParaRPr/>
          </a:p>
        </p:txBody>
      </p:sp>
      <p:sp>
        <p:nvSpPr>
          <p:cNvPr id="482" name="Google Shape;482;p25"/>
          <p:cNvSpPr txBox="1"/>
          <p:nvPr/>
        </p:nvSpPr>
        <p:spPr>
          <a:xfrm>
            <a:off x="9982200" y="304800"/>
            <a:ext cx="20955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GEOMETRIC REPRESENTATION</a:t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484" name="Google Shape;484;p25"/>
          <p:cNvSpPr txBox="1"/>
          <p:nvPr/>
        </p:nvSpPr>
        <p:spPr>
          <a:xfrm>
            <a:off x="10606087" y="6505575"/>
            <a:ext cx="13382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• EMBEDDINGS</a:t>
            </a:r>
            <a:endParaRPr/>
          </a:p>
        </p:txBody>
      </p:sp>
      <p:sp>
        <p:nvSpPr>
          <p:cNvPr id="485" name="Google Shape;485;p25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Embeddings: Discrete Tokens to Continuous Geometry</a:t>
            </a:r>
            <a:endParaRPr/>
          </a:p>
        </p:txBody>
      </p:sp>
      <p:sp>
        <p:nvSpPr>
          <p:cNvPr id="486" name="Google Shape;486;p25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6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integer ID has no mathematical meaning. The embedding matrix maps each ID to a vector in Rd (d=4096 in Llama 3 8B).</a:t>
            </a:r>
            <a:endParaRPr lang="en-US" dirty="0"/>
          </a:p>
        </p:txBody>
      </p:sp>
      <p:sp>
        <p:nvSpPr>
          <p:cNvPr id="487" name="Google Shape;487;p25"/>
          <p:cNvSpPr txBox="1"/>
          <p:nvPr/>
        </p:nvSpPr>
        <p:spPr>
          <a:xfrm>
            <a:off x="752475" y="4159150"/>
            <a:ext cx="114395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Polysemy Dilemma: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752475" y="4406800"/>
            <a:ext cx="107823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4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 Layer 0 (the embedding table), the word </a:t>
            </a:r>
            <a:r>
              <a:rPr lang="en-US" sz="98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"bank"</a:t>
            </a:r>
            <a:r>
              <a:rPr lang="en-US" sz="984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receives the </a:t>
            </a:r>
            <a:r>
              <a:rPr lang="en-US" sz="984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same static vector</a:t>
            </a:r>
            <a:r>
              <a:rPr lang="en-US" sz="984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both sentences. Only </a:t>
            </a:r>
            <a:r>
              <a:rPr lang="en-US" sz="984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Self-Attention</a:t>
            </a:r>
            <a:r>
              <a:rPr lang="en-US" sz="984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shifts its vector coordinates across layers to mean "river shore" or "financial institution" based on surrounding tokens.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704850" y="5943451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4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Word2Vec vs Transformers:</a:t>
            </a:r>
            <a:r>
              <a:rPr lang="en-US" sz="984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Word2Vec assigned 1 permanent vector per word. Transformers create </a:t>
            </a:r>
            <a:r>
              <a:rPr lang="en-US" sz="984" b="0" i="1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contextualized embeddings</a:t>
            </a:r>
            <a:r>
              <a:rPr lang="en-US" sz="984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 every layer.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781050" y="2327225"/>
            <a:ext cx="62626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SENTENCE 1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781050" y="2508200"/>
            <a:ext cx="6262687" cy="18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212" b="1" dirty="0">
                <a:solidFill>
                  <a:srgbClr val="182135"/>
                </a:solidFill>
                <a:latin typeface="Aptos"/>
              </a:rPr>
              <a:t>“The river </a:t>
            </a:r>
            <a:r>
              <a:rPr sz="1212" b="1" dirty="0">
                <a:solidFill>
                  <a:srgbClr val="182135"/>
                </a:solidFill>
                <a:highlight>
                  <a:srgbClr val="00FFFF"/>
                </a:highlight>
                <a:latin typeface="Aptos"/>
              </a:rPr>
              <a:t>bank</a:t>
            </a:r>
            <a:r>
              <a:rPr sz="1212" b="1" dirty="0">
                <a:solidFill>
                  <a:srgbClr val="182135"/>
                </a:solidFill>
                <a:latin typeface="Aptos"/>
              </a:rPr>
              <a:t> flooded after heavy rain.”</a:t>
            </a:r>
            <a:endParaRPr dirty="0"/>
          </a:p>
        </p:txBody>
      </p:sp>
      <p:sp>
        <p:nvSpPr>
          <p:cNvPr id="492" name="Google Shape;492;p25"/>
          <p:cNvSpPr txBox="1"/>
          <p:nvPr/>
        </p:nvSpPr>
        <p:spPr>
          <a:xfrm>
            <a:off x="781050" y="2765375"/>
            <a:ext cx="62626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9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Context: Hydrology, Nature</a:t>
            </a:r>
            <a:endParaRPr/>
          </a:p>
        </p:txBody>
      </p:sp>
      <p:sp>
        <p:nvSpPr>
          <p:cNvPr id="493" name="Google Shape;493;p25"/>
          <p:cNvSpPr txBox="1"/>
          <p:nvPr/>
        </p:nvSpPr>
        <p:spPr>
          <a:xfrm>
            <a:off x="6429375" y="2327225"/>
            <a:ext cx="576262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SENTENCE 2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6429375" y="2508200"/>
            <a:ext cx="5762625" cy="18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212" b="1" dirty="0">
                <a:solidFill>
                  <a:srgbClr val="182135"/>
                </a:solidFill>
                <a:latin typeface="Aptos"/>
              </a:rPr>
              <a:t>“The central </a:t>
            </a:r>
            <a:r>
              <a:rPr sz="1212" b="1" dirty="0">
                <a:solidFill>
                  <a:srgbClr val="182135"/>
                </a:solidFill>
                <a:highlight>
                  <a:srgbClr val="00FF00"/>
                </a:highlight>
                <a:latin typeface="Aptos"/>
              </a:rPr>
              <a:t>bank</a:t>
            </a:r>
            <a:r>
              <a:rPr sz="1212" b="1" dirty="0">
                <a:solidFill>
                  <a:srgbClr val="182135"/>
                </a:solidFill>
                <a:latin typeface="Aptos"/>
              </a:rPr>
              <a:t> raised interest rates.”</a:t>
            </a:r>
            <a:endParaRPr dirty="0"/>
          </a:p>
        </p:txBody>
      </p:sp>
      <p:sp>
        <p:nvSpPr>
          <p:cNvPr id="495" name="Google Shape;495;p25"/>
          <p:cNvSpPr txBox="1"/>
          <p:nvPr/>
        </p:nvSpPr>
        <p:spPr>
          <a:xfrm>
            <a:off x="6429375" y="2765375"/>
            <a:ext cx="5762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9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Context: Monetary Policy, Economics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23378-25D8-419D-88A3-068CD71D9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89" y="2479588"/>
            <a:ext cx="514422" cy="26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5DFE2-454F-4A2A-85F7-4C54AD62B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85" y="2460574"/>
            <a:ext cx="514422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533400" y="266700"/>
            <a:ext cx="163070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533400" y="4365426"/>
            <a:ext cx="11125200" cy="547687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533400" y="5848052"/>
            <a:ext cx="111252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533400" y="2192238"/>
            <a:ext cx="546735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6191250" y="2192238"/>
            <a:ext cx="546735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752475" y="2649438"/>
            <a:ext cx="502920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6410325" y="2649438"/>
            <a:ext cx="502920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647700" y="314325"/>
            <a:ext cx="149735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ATTENTION MECHANICS</a:t>
            </a:r>
            <a:endParaRPr/>
          </a:p>
        </p:txBody>
      </p:sp>
      <p:sp>
        <p:nvSpPr>
          <p:cNvPr id="512" name="Google Shape;512;p26"/>
          <p:cNvSpPr txBox="1"/>
          <p:nvPr/>
        </p:nvSpPr>
        <p:spPr>
          <a:xfrm>
            <a:off x="9906000" y="304800"/>
            <a:ext cx="2190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REPRESENTATION</a:t>
            </a:r>
            <a:endParaRPr/>
          </a:p>
        </p:txBody>
      </p:sp>
      <p:sp>
        <p:nvSpPr>
          <p:cNvPr id="513" name="Google Shape;513;p26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514" name="Google Shape;514;p26"/>
          <p:cNvSpPr txBox="1"/>
          <p:nvPr/>
        </p:nvSpPr>
        <p:spPr>
          <a:xfrm>
            <a:off x="9929812" y="6505575"/>
            <a:ext cx="216098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 • CONTEXTUAL ATTENTION</a:t>
            </a:r>
            <a:endParaRPr/>
          </a:p>
        </p:txBody>
      </p:sp>
      <p:sp>
        <p:nvSpPr>
          <p:cNvPr id="515" name="Google Shape;515;p26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Attention Makes Representations Context-Aware</a:t>
            </a:r>
            <a:endParaRPr/>
          </a:p>
        </p:txBody>
      </p:sp>
      <p:sp>
        <p:nvSpPr>
          <p:cNvPr id="516" name="Google Shape;516;p26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token's role is shaped by the other tokens it can attend to in the sequence:</a:t>
            </a:r>
            <a:endParaRPr/>
          </a:p>
        </p:txBody>
      </p:sp>
      <p:sp>
        <p:nvSpPr>
          <p:cNvPr id="517" name="Google Shape;517;p26"/>
          <p:cNvSpPr txBox="1"/>
          <p:nvPr/>
        </p:nvSpPr>
        <p:spPr>
          <a:xfrm>
            <a:off x="752475" y="4546401"/>
            <a:ext cx="114395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input embedding is only a starting point; transformer layers build contextual representations. This is why the exact same word contributes differently across diverse sentences.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704850" y="6010275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Intuition:</a:t>
            </a: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Attention is a weighted linear combination of values based on query-key dot products: Attention(Q, K, V) = </a:t>
            </a:r>
            <a:r>
              <a:rPr lang="en-US" sz="975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softmax</a:t>
            </a: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((QKᵀ) / √dₖ) V</a:t>
            </a:r>
            <a:endParaRPr lang="en-US" dirty="0"/>
          </a:p>
        </p:txBody>
      </p:sp>
      <p:sp>
        <p:nvSpPr>
          <p:cNvPr id="519" name="Google Shape;519;p26"/>
          <p:cNvSpPr txBox="1"/>
          <p:nvPr/>
        </p:nvSpPr>
        <p:spPr>
          <a:xfrm>
            <a:off x="752475" y="2373213"/>
            <a:ext cx="6600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“The river bank flooded.”</a:t>
            </a:r>
            <a:endParaRPr/>
          </a:p>
        </p:txBody>
      </p:sp>
      <p:sp>
        <p:nvSpPr>
          <p:cNvPr id="520" name="Google Shape;520;p26"/>
          <p:cNvSpPr txBox="1"/>
          <p:nvPr/>
        </p:nvSpPr>
        <p:spPr>
          <a:xfrm>
            <a:off x="866775" y="2725638"/>
            <a:ext cx="4895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bank → land beside a river</a:t>
            </a:r>
            <a:endParaRPr/>
          </a:p>
        </p:txBody>
      </p:sp>
      <p:sp>
        <p:nvSpPr>
          <p:cNvPr id="521" name="Google Shape;521;p26"/>
          <p:cNvSpPr txBox="1"/>
          <p:nvPr/>
        </p:nvSpPr>
        <p:spPr>
          <a:xfrm>
            <a:off x="752475" y="3097113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Strong attention connection between "bank", "river", and "flooded".</a:t>
            </a:r>
            <a:endParaRPr/>
          </a:p>
        </p:txBody>
      </p:sp>
      <p:sp>
        <p:nvSpPr>
          <p:cNvPr id="522" name="Google Shape;522;p26"/>
          <p:cNvSpPr txBox="1"/>
          <p:nvPr/>
        </p:nvSpPr>
        <p:spPr>
          <a:xfrm>
            <a:off x="6410325" y="2373213"/>
            <a:ext cx="5781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“I deposited cash at the bank.”</a:t>
            </a:r>
            <a:endParaRPr/>
          </a:p>
        </p:txBody>
      </p:sp>
      <p:sp>
        <p:nvSpPr>
          <p:cNvPr id="523" name="Google Shape;523;p26"/>
          <p:cNvSpPr txBox="1"/>
          <p:nvPr/>
        </p:nvSpPr>
        <p:spPr>
          <a:xfrm>
            <a:off x="6524625" y="2725638"/>
            <a:ext cx="4895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bank → financial institution</a:t>
            </a:r>
            <a:endParaRPr/>
          </a:p>
        </p:txBody>
      </p:sp>
      <p:sp>
        <p:nvSpPr>
          <p:cNvPr id="524" name="Google Shape;524;p26"/>
          <p:cNvSpPr txBox="1"/>
          <p:nvPr/>
        </p:nvSpPr>
        <p:spPr>
          <a:xfrm>
            <a:off x="6410325" y="3097113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Strong attention connection between "bank", "cash", and "deposited".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533400" y="266700"/>
            <a:ext cx="1611659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533400" y="2914650"/>
            <a:ext cx="359405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4298900" y="2914650"/>
            <a:ext cx="359405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8064400" y="2914650"/>
            <a:ext cx="359405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 txBox="1"/>
          <p:nvPr/>
        </p:nvSpPr>
        <p:spPr>
          <a:xfrm>
            <a:off x="647700" y="314325"/>
            <a:ext cx="147830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PROCESSING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10420350" y="304800"/>
            <a:ext cx="15478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FOUNDATIONAL SHIFT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0334625" y="6505575"/>
            <a:ext cx="16549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 • ATTENTION RECAP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You Just Did Has a Name: Self-Attention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core mechanism introduced by Vaswani et al. (2017):</a:t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Lineage: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GPT, BERT, Claude, Gemini, LLaMA, Whisper, and modern diffusion models are all direct descendants of this architectural breakthrough.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752475" y="3095625"/>
            <a:ext cx="394487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IDEA</a:t>
            </a:r>
            <a:endParaRPr/>
          </a:p>
        </p:txBody>
      </p:sp>
      <p:sp>
        <p:nvSpPr>
          <p:cNvPr id="544" name="Google Shape;544;p27"/>
          <p:cNvSpPr txBox="1"/>
          <p:nvPr/>
        </p:nvSpPr>
        <p:spPr>
          <a:xfrm>
            <a:off x="752475" y="3276600"/>
            <a:ext cx="414211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Cross-Token Attention</a:t>
            </a:r>
            <a:endParaRPr/>
          </a:p>
        </p:txBody>
      </p:sp>
      <p:sp>
        <p:nvSpPr>
          <p:cNvPr id="545" name="Google Shape;545;p27"/>
          <p:cNvSpPr txBox="1"/>
          <p:nvPr/>
        </p:nvSpPr>
        <p:spPr>
          <a:xfrm>
            <a:off x="752475" y="3514725"/>
            <a:ext cx="3251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Let every token look at every other token directly, and learn how much to weight each one. No hidden state passed along a sequential chain.</a:t>
            </a:r>
            <a:endParaRPr/>
          </a:p>
        </p:txBody>
      </p:sp>
      <p:sp>
        <p:nvSpPr>
          <p:cNvPr id="546" name="Google Shape;546;p27"/>
          <p:cNvSpPr txBox="1"/>
          <p:nvPr/>
        </p:nvSpPr>
        <p:spPr>
          <a:xfrm>
            <a:off x="4517975" y="3095625"/>
            <a:ext cx="394487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IT REMOVED</a:t>
            </a:r>
            <a:endParaRPr/>
          </a:p>
        </p:txBody>
      </p:sp>
      <p:sp>
        <p:nvSpPr>
          <p:cNvPr id="547" name="Google Shape;547;p27"/>
          <p:cNvSpPr txBox="1"/>
          <p:nvPr/>
        </p:nvSpPr>
        <p:spPr>
          <a:xfrm>
            <a:off x="4517975" y="3276600"/>
            <a:ext cx="414211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Sequential Bottleneck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4517975" y="3514725"/>
            <a:ext cx="3251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position is computed simultaneously, allowing the entire sequence to process through GPU hardware in parallel.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8283475" y="3095625"/>
            <a:ext cx="390852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IT CHANGED EVERYTHING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8283475" y="3276600"/>
            <a:ext cx="390852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Parallelism → Scale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8283475" y="3514725"/>
            <a:ext cx="3251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execution enabled scaling across tens of thousands of GPUs. Scale unlocked emergence—and the current generative AI race began.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8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533400" y="266700"/>
            <a:ext cx="138886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533400" y="2079575"/>
            <a:ext cx="111252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533400" y="5848201"/>
            <a:ext cx="111252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533400" y="3692425"/>
            <a:ext cx="3594050" cy="13335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4298900" y="3692425"/>
            <a:ext cx="3594050" cy="13335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8064400" y="3692425"/>
            <a:ext cx="3594050" cy="13335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7800975" y="2308175"/>
            <a:ext cx="990600" cy="333375"/>
          </a:xfrm>
          <a:prstGeom prst="roundRect">
            <a:avLst>
              <a:gd name="adj" fmla="val 11428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752475" y="3873400"/>
            <a:ext cx="588764" cy="219075"/>
          </a:xfrm>
          <a:prstGeom prst="roundRect">
            <a:avLst>
              <a:gd name="adj" fmla="val 26086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517975" y="3873400"/>
            <a:ext cx="61733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8283475" y="3873400"/>
            <a:ext cx="617339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647700" y="314325"/>
            <a:ext cx="125551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DEMO</a:t>
            </a:r>
            <a:endParaRPr/>
          </a:p>
        </p:txBody>
      </p:sp>
      <p:sp>
        <p:nvSpPr>
          <p:cNvPr id="569" name="Google Shape;569;p28"/>
          <p:cNvSpPr txBox="1"/>
          <p:nvPr/>
        </p:nvSpPr>
        <p:spPr>
          <a:xfrm>
            <a:off x="10906125" y="304800"/>
            <a:ext cx="1038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 SECONDS</a:t>
            </a:r>
            <a:endParaRPr/>
          </a:p>
        </p:txBody>
      </p:sp>
      <p:sp>
        <p:nvSpPr>
          <p:cNvPr id="570" name="Google Shape;570;p28"/>
          <p:cNvSpPr txBox="1"/>
          <p:nvPr/>
        </p:nvSpPr>
        <p:spPr>
          <a:xfrm>
            <a:off x="-314325" y="2308175"/>
            <a:ext cx="128206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“Chennai is a city famous for its ” </a:t>
            </a:r>
            <a:endParaRPr dirty="0"/>
          </a:p>
        </p:txBody>
      </p:sp>
      <p:sp>
        <p:nvSpPr>
          <p:cNvPr id="571" name="Google Shape;571;p28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572" name="Google Shape;572;p28"/>
          <p:cNvSpPr txBox="1"/>
          <p:nvPr/>
        </p:nvSpPr>
        <p:spPr>
          <a:xfrm>
            <a:off x="9848850" y="6505575"/>
            <a:ext cx="22621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 • INTERACTIVE PROBABILITY</a:t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Turn: Be the Model</a:t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Given the prefix prompt:</a:t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704850" y="5943451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Tool:</a:t>
            </a: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poloclub.github.io/transformer-explainer — GPT-2 running in WebGL inside the browser.</a:t>
            </a:r>
            <a:endParaRPr dirty="0"/>
          </a:p>
        </p:txBody>
      </p:sp>
      <p:sp>
        <p:nvSpPr>
          <p:cNvPr id="576" name="Google Shape;576;p28"/>
          <p:cNvSpPr txBox="1"/>
          <p:nvPr/>
        </p:nvSpPr>
        <p:spPr>
          <a:xfrm>
            <a:off x="7753350" y="2327225"/>
            <a:ext cx="10858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54D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______</a:t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866775" y="3921025"/>
            <a:ext cx="45541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752475" y="4149625"/>
            <a:ext cx="414211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Shout It Out</a:t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752475" y="4387750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 three guesses from the room. Write them on the board (e.g., beaches, temples, food).</a:t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4632275" y="3921025"/>
            <a:ext cx="4839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</a:t>
            </a:r>
            <a:endParaRPr/>
          </a:p>
        </p:txBody>
      </p:sp>
      <p:sp>
        <p:nvSpPr>
          <p:cNvPr id="581" name="Google Shape;581;p28"/>
          <p:cNvSpPr txBox="1"/>
          <p:nvPr/>
        </p:nvSpPr>
        <p:spPr>
          <a:xfrm>
            <a:off x="4517975" y="4149625"/>
            <a:ext cx="414211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Reveal Real Logits</a:t>
            </a:r>
            <a:endParaRPr/>
          </a:p>
        </p:txBody>
      </p:sp>
      <p:sp>
        <p:nvSpPr>
          <p:cNvPr id="582" name="Google Shape;582;p28"/>
          <p:cNvSpPr txBox="1"/>
          <p:nvPr/>
        </p:nvSpPr>
        <p:spPr>
          <a:xfrm>
            <a:off x="4517975" y="4387750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Inspect Transformer Explainer live to see GPT-2 compute real token likelihoods in the browser.</a:t>
            </a:r>
            <a:endParaRPr/>
          </a:p>
        </p:txBody>
      </p:sp>
      <p:sp>
        <p:nvSpPr>
          <p:cNvPr id="583" name="Google Shape;583;p28"/>
          <p:cNvSpPr txBox="1"/>
          <p:nvPr/>
        </p:nvSpPr>
        <p:spPr>
          <a:xfrm>
            <a:off x="8397775" y="3921025"/>
            <a:ext cx="48398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</a:t>
            </a:r>
            <a:endParaRPr/>
          </a:p>
        </p:txBody>
      </p:sp>
      <p:sp>
        <p:nvSpPr>
          <p:cNvPr id="584" name="Google Shape;584;p28"/>
          <p:cNvSpPr txBox="1"/>
          <p:nvPr/>
        </p:nvSpPr>
        <p:spPr>
          <a:xfrm>
            <a:off x="8283475" y="4149625"/>
            <a:ext cx="390852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Realization</a:t>
            </a:r>
            <a:endParaRPr/>
          </a:p>
        </p:txBody>
      </p:sp>
      <p:sp>
        <p:nvSpPr>
          <p:cNvPr id="585" name="Google Shape;585;p28"/>
          <p:cNvSpPr txBox="1"/>
          <p:nvPr/>
        </p:nvSpPr>
        <p:spPr>
          <a:xfrm>
            <a:off x="8283475" y="4387750"/>
            <a:ext cx="3251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Audience guesses match top tokens. Humans rank by statistical association—exactly what the LLM computes.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9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533400" y="266700"/>
            <a:ext cx="140597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533400" y="5829300"/>
            <a:ext cx="11125200" cy="361950"/>
          </a:xfrm>
          <a:prstGeom prst="roundRect">
            <a:avLst>
              <a:gd name="adj" fmla="val 2105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533400" y="2786062"/>
            <a:ext cx="6163567" cy="1514475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6887467" y="2619375"/>
            <a:ext cx="4771132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6887467" y="3600450"/>
            <a:ext cx="4771132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1628775" y="3190875"/>
            <a:ext cx="4391917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1628775" y="3448050"/>
            <a:ext cx="4391917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1628775" y="3705225"/>
            <a:ext cx="4391917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1628775" y="3962400"/>
            <a:ext cx="4391917" cy="1524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1628775" y="3190875"/>
            <a:ext cx="1493192" cy="152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1628775" y="3448050"/>
            <a:ext cx="1185713" cy="152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1628775" y="3705225"/>
            <a:ext cx="658713" cy="152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1628775" y="3962400"/>
            <a:ext cx="395138" cy="152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 txBox="1"/>
          <p:nvPr/>
        </p:nvSpPr>
        <p:spPr>
          <a:xfrm>
            <a:off x="647700" y="314325"/>
            <a:ext cx="127262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DEMO RESULTS</a:t>
            </a:r>
            <a:endParaRPr/>
          </a:p>
        </p:txBody>
      </p:sp>
      <p:sp>
        <p:nvSpPr>
          <p:cNvPr id="606" name="Google Shape;606;p29"/>
          <p:cNvSpPr txBox="1"/>
          <p:nvPr/>
        </p:nvSpPr>
        <p:spPr>
          <a:xfrm>
            <a:off x="10363200" y="304800"/>
            <a:ext cx="1619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PROBABILITY VECTORS</a:t>
            </a:r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9758362" y="6505575"/>
            <a:ext cx="237529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 • PROBABILITY DISTRIBUTION</a:t>
            </a:r>
            <a:endParaRPr/>
          </a:p>
        </p:txBody>
      </p:sp>
      <p:sp>
        <p:nvSpPr>
          <p:cNvPr id="609" name="Google Shape;609;p29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Model Actually Outputs</a:t>
            </a:r>
            <a:endParaRPr/>
          </a:p>
        </p:txBody>
      </p:sp>
      <p:sp>
        <p:nvSpPr>
          <p:cNvPr id="610" name="Google Shape;610;p29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an answer. A probability distribution over every token in the vocabulary:</a:t>
            </a:r>
            <a:endParaRPr/>
          </a:p>
        </p:txBody>
      </p:sp>
      <p:sp>
        <p:nvSpPr>
          <p:cNvPr id="611" name="Google Shape;611;p29"/>
          <p:cNvSpPr txBox="1"/>
          <p:nvPr/>
        </p:nvSpPr>
        <p:spPr>
          <a:xfrm>
            <a:off x="714375" y="5934075"/>
            <a:ext cx="11477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Autoregressive Step: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Sample one token. Append it. Run the entire model forward again. Repeat until an End-of-Sequence (EOS) token emits.</a:t>
            </a:r>
            <a:endParaRPr/>
          </a:p>
        </p:txBody>
      </p:sp>
      <p:sp>
        <p:nvSpPr>
          <p:cNvPr id="612" name="Google Shape;612;p29"/>
          <p:cNvSpPr txBox="1"/>
          <p:nvPr/>
        </p:nvSpPr>
        <p:spPr>
          <a:xfrm>
            <a:off x="752475" y="2967037"/>
            <a:ext cx="715677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OUTPUT DISTRIBUTION ($P(w \mid \text{context})$)</a:t>
            </a:r>
            <a:endParaRPr/>
          </a:p>
        </p:txBody>
      </p:sp>
      <p:sp>
        <p:nvSpPr>
          <p:cNvPr id="613" name="Google Shape;613;p29"/>
          <p:cNvSpPr txBox="1"/>
          <p:nvPr/>
        </p:nvSpPr>
        <p:spPr>
          <a:xfrm>
            <a:off x="7097017" y="2790825"/>
            <a:ext cx="444728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= 0.0 (Greedy)</a:t>
            </a:r>
            <a:endParaRPr/>
          </a:p>
        </p:txBody>
      </p:sp>
      <p:sp>
        <p:nvSpPr>
          <p:cNvPr id="614" name="Google Shape;614;p29"/>
          <p:cNvSpPr txBox="1"/>
          <p:nvPr/>
        </p:nvSpPr>
        <p:spPr>
          <a:xfrm>
            <a:off x="7097017" y="3771900"/>
            <a:ext cx="444728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= 1.5 (Diffuse)</a:t>
            </a:r>
            <a:endParaRPr/>
          </a:p>
        </p:txBody>
      </p:sp>
      <p:sp>
        <p:nvSpPr>
          <p:cNvPr id="615" name="Google Shape;615;p29"/>
          <p:cNvSpPr txBox="1"/>
          <p:nvPr/>
        </p:nvSpPr>
        <p:spPr>
          <a:xfrm>
            <a:off x="752475" y="3186112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“beaches”</a:t>
            </a:r>
            <a:endParaRPr/>
          </a:p>
        </p:txBody>
      </p:sp>
      <p:sp>
        <p:nvSpPr>
          <p:cNvPr id="616" name="Google Shape;616;p29"/>
          <p:cNvSpPr txBox="1"/>
          <p:nvPr/>
        </p:nvSpPr>
        <p:spPr>
          <a:xfrm>
            <a:off x="6134992" y="3186112"/>
            <a:ext cx="628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34%</a:t>
            </a:r>
            <a:endParaRPr/>
          </a:p>
        </p:txBody>
      </p:sp>
      <p:sp>
        <p:nvSpPr>
          <p:cNvPr id="617" name="Google Shape;617;p29"/>
          <p:cNvSpPr txBox="1"/>
          <p:nvPr/>
        </p:nvSpPr>
        <p:spPr>
          <a:xfrm>
            <a:off x="752475" y="3443287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“temples”</a:t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6134992" y="3443287"/>
            <a:ext cx="628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27%</a:t>
            </a:r>
            <a:endParaRPr/>
          </a:p>
        </p:txBody>
      </p:sp>
      <p:sp>
        <p:nvSpPr>
          <p:cNvPr id="619" name="Google Shape;619;p29"/>
          <p:cNvSpPr txBox="1"/>
          <p:nvPr/>
        </p:nvSpPr>
        <p:spPr>
          <a:xfrm>
            <a:off x="752475" y="3700462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“food”</a:t>
            </a:r>
            <a:endParaRPr/>
          </a:p>
        </p:txBody>
      </p:sp>
      <p:sp>
        <p:nvSpPr>
          <p:cNvPr id="620" name="Google Shape;620;p29"/>
          <p:cNvSpPr txBox="1"/>
          <p:nvPr/>
        </p:nvSpPr>
        <p:spPr>
          <a:xfrm>
            <a:off x="6134992" y="3700462"/>
            <a:ext cx="628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15%</a:t>
            </a:r>
            <a:endParaRPr/>
          </a:p>
        </p:txBody>
      </p:sp>
      <p:sp>
        <p:nvSpPr>
          <p:cNvPr id="621" name="Google Shape;621;p29"/>
          <p:cNvSpPr txBox="1"/>
          <p:nvPr/>
        </p:nvSpPr>
        <p:spPr>
          <a:xfrm>
            <a:off x="752475" y="3957637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“music”</a:t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6134992" y="3957637"/>
            <a:ext cx="628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9%</a:t>
            </a:r>
            <a:endParaRPr/>
          </a:p>
        </p:txBody>
      </p:sp>
      <p:sp>
        <p:nvSpPr>
          <p:cNvPr id="623" name="Google Shape;623;p29"/>
          <p:cNvSpPr txBox="1"/>
          <p:nvPr/>
        </p:nvSpPr>
        <p:spPr>
          <a:xfrm>
            <a:off x="7106542" y="3019425"/>
            <a:ext cx="44282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Always pick top token. Run it 3 times, get identical output 3 times. Crucial for code and JSON.</a:t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7106542" y="4000500"/>
            <a:ext cx="44282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Flattens probabilities and samples widely. 3 runs yield 3 distinct responses; push too high and syntax breaks.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0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533400" y="266700"/>
            <a:ext cx="1343025" cy="219075"/>
          </a:xfrm>
          <a:prstGeom prst="roundRect">
            <a:avLst>
              <a:gd name="adj" fmla="val 26086"/>
            </a:avLst>
          </a:prstGeom>
          <a:solidFill>
            <a:srgbClr val="FCE7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533400" y="2947987"/>
            <a:ext cx="2667000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3352800" y="2947987"/>
            <a:ext cx="2667000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0"/>
          <p:cNvSpPr/>
          <p:nvPr/>
        </p:nvSpPr>
        <p:spPr>
          <a:xfrm>
            <a:off x="6172200" y="2947987"/>
            <a:ext cx="2667000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8991600" y="2947987"/>
            <a:ext cx="2667000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752475" y="3128962"/>
            <a:ext cx="944909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3571875" y="3128962"/>
            <a:ext cx="88016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6391275" y="3128962"/>
            <a:ext cx="1127819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9210675" y="3128962"/>
            <a:ext cx="1065014" cy="219075"/>
          </a:xfrm>
          <a:prstGeom prst="roundRect">
            <a:avLst>
              <a:gd name="adj" fmla="val 26086"/>
            </a:avLst>
          </a:prstGeom>
          <a:solidFill>
            <a:srgbClr val="F3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 txBox="1"/>
          <p:nvPr/>
        </p:nvSpPr>
        <p:spPr>
          <a:xfrm>
            <a:off x="647700" y="314325"/>
            <a:ext cx="120967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PRACTICE</a:t>
            </a:r>
            <a:endParaRPr/>
          </a:p>
        </p:txBody>
      </p:sp>
      <p:sp>
        <p:nvSpPr>
          <p:cNvPr id="642" name="Google Shape;642;p30"/>
          <p:cNvSpPr txBox="1"/>
          <p:nvPr/>
        </p:nvSpPr>
        <p:spPr>
          <a:xfrm>
            <a:off x="10372725" y="304800"/>
            <a:ext cx="16073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BEHAVIORAL STEERING</a:t>
            </a:r>
            <a:endParaRPr/>
          </a:p>
        </p:txBody>
      </p:sp>
      <p:sp>
        <p:nvSpPr>
          <p:cNvPr id="643" name="Google Shape;643;p30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644" name="Google Shape;644;p30"/>
          <p:cNvSpPr txBox="1"/>
          <p:nvPr/>
        </p:nvSpPr>
        <p:spPr>
          <a:xfrm>
            <a:off x="10034587" y="6505575"/>
            <a:ext cx="203001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 • PROMPT ENGINEERING</a:t>
            </a:r>
            <a:endParaRPr/>
          </a:p>
        </p:txBody>
      </p:sp>
      <p:sp>
        <p:nvSpPr>
          <p:cNvPr id="645" name="Google Shape;645;p30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Prompting: Change Instructions, Change Behavior</a:t>
            </a:r>
            <a:endParaRPr/>
          </a:p>
        </p:txBody>
      </p:sp>
      <p:sp>
        <p:nvSpPr>
          <p:cNvPr id="646" name="Google Shape;646;p30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prompt shapes the task, context, constraints, and response format—not the model’s weights:</a:t>
            </a:r>
            <a:endParaRPr/>
          </a:p>
        </p:txBody>
      </p:sp>
      <p:sp>
        <p:nvSpPr>
          <p:cNvPr id="647" name="Google Shape;647;p30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Takeaway: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Good prompts reduce ambiguity; they do not guarantee factual truth. Always verify important outputs with deterministic checks.</a:t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866775" y="3176587"/>
            <a:ext cx="81155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ZERO-SHOT</a:t>
            </a:r>
            <a:endParaRPr/>
          </a:p>
        </p:txBody>
      </p:sp>
      <p:sp>
        <p:nvSpPr>
          <p:cNvPr id="649" name="Google Shape;649;p30"/>
          <p:cNvSpPr txBox="1"/>
          <p:nvPr/>
        </p:nvSpPr>
        <p:spPr>
          <a:xfrm>
            <a:off x="752475" y="3405187"/>
            <a:ext cx="29253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Request</a:t>
            </a:r>
            <a:endParaRPr/>
          </a:p>
        </p:txBody>
      </p:sp>
      <p:sp>
        <p:nvSpPr>
          <p:cNvPr id="650" name="Google Shape;650;p30"/>
          <p:cNvSpPr txBox="1"/>
          <p:nvPr/>
        </p:nvSpPr>
        <p:spPr>
          <a:xfrm>
            <a:off x="752475" y="3633787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directly with no examples: </a:t>
            </a:r>
            <a:r>
              <a:rPr lang="en-US" sz="900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“Summarize this paragraph in 3 bullets.”</a:t>
            </a:r>
            <a:endParaRPr/>
          </a:p>
        </p:txBody>
      </p:sp>
      <p:sp>
        <p:nvSpPr>
          <p:cNvPr id="651" name="Google Shape;651;p30"/>
          <p:cNvSpPr txBox="1"/>
          <p:nvPr/>
        </p:nvSpPr>
        <p:spPr>
          <a:xfrm>
            <a:off x="3686175" y="3176587"/>
            <a:ext cx="74681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FEW-SHOT</a:t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3571875" y="3405187"/>
            <a:ext cx="29253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→ Output Pairs</a:t>
            </a:r>
            <a:endParaRPr/>
          </a:p>
        </p:txBody>
      </p:sp>
      <p:sp>
        <p:nvSpPr>
          <p:cNvPr id="653" name="Google Shape;653;p30"/>
          <p:cNvSpPr txBox="1"/>
          <p:nvPr/>
        </p:nvSpPr>
        <p:spPr>
          <a:xfrm>
            <a:off x="3571875" y="3633787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2–3 demonstrations to lock the model into exact formats and styles.</a:t>
            </a:r>
            <a:endParaRPr/>
          </a:p>
        </p:txBody>
      </p:sp>
      <p:sp>
        <p:nvSpPr>
          <p:cNvPr id="654" name="Google Shape;654;p30"/>
          <p:cNvSpPr txBox="1"/>
          <p:nvPr/>
        </p:nvSpPr>
        <p:spPr>
          <a:xfrm>
            <a:off x="6505575" y="3176587"/>
            <a:ext cx="99446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 / SYSTEM</a:t>
            </a:r>
            <a:endParaRPr/>
          </a:p>
        </p:txBody>
      </p:sp>
      <p:sp>
        <p:nvSpPr>
          <p:cNvPr id="655" name="Google Shape;655;p30"/>
          <p:cNvSpPr txBox="1"/>
          <p:nvPr/>
        </p:nvSpPr>
        <p:spPr>
          <a:xfrm>
            <a:off x="6391275" y="3405187"/>
            <a:ext cx="29253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 &amp; Guardrails</a:t>
            </a:r>
            <a:endParaRPr/>
          </a:p>
        </p:txBody>
      </p:sp>
      <p:sp>
        <p:nvSpPr>
          <p:cNvPr id="656" name="Google Shape;656;p30"/>
          <p:cNvSpPr txBox="1"/>
          <p:nvPr/>
        </p:nvSpPr>
        <p:spPr>
          <a:xfrm>
            <a:off x="6391275" y="3633787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priorities and tone: </a:t>
            </a:r>
            <a:r>
              <a:rPr lang="en-US" sz="900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“Act as a patient Python tutor reviewing student PRs.”</a:t>
            </a:r>
            <a:endParaRPr/>
          </a:p>
        </p:txBody>
      </p:sp>
      <p:sp>
        <p:nvSpPr>
          <p:cNvPr id="657" name="Google Shape;657;p30"/>
          <p:cNvSpPr txBox="1"/>
          <p:nvPr/>
        </p:nvSpPr>
        <p:spPr>
          <a:xfrm>
            <a:off x="9324975" y="3176587"/>
            <a:ext cx="93166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CONSTRAINTS</a:t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9210675" y="3405187"/>
            <a:ext cx="292536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Output</a:t>
            </a:r>
            <a:endParaRPr/>
          </a:p>
        </p:txBody>
      </p:sp>
      <p:sp>
        <p:nvSpPr>
          <p:cNvPr id="659" name="Google Shape;659;p30"/>
          <p:cNvSpPr txBox="1"/>
          <p:nvPr/>
        </p:nvSpPr>
        <p:spPr>
          <a:xfrm>
            <a:off x="9210675" y="3633787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Specify schema and limits: </a:t>
            </a:r>
            <a:r>
              <a:rPr lang="en-US" sz="900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“Return valid JSON with keys: [title, status, code].”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1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533400" y="266700"/>
            <a:ext cx="2169914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533400" y="2826394"/>
            <a:ext cx="3581400" cy="1529060"/>
          </a:xfrm>
          <a:prstGeom prst="roundRect">
            <a:avLst>
              <a:gd name="adj" fmla="val 673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4305300" y="2826394"/>
            <a:ext cx="3581400" cy="1414760"/>
          </a:xfrm>
          <a:prstGeom prst="roundRect">
            <a:avLst>
              <a:gd name="adj" fmla="val 673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8077200" y="2826394"/>
            <a:ext cx="3581400" cy="1414760"/>
          </a:xfrm>
          <a:prstGeom prst="roundRect">
            <a:avLst>
              <a:gd name="adj" fmla="val 673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533400" y="423163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533400" y="2826394"/>
            <a:ext cx="35814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533400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4105275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4305300" y="423163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4305300" y="2826394"/>
            <a:ext cx="3581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4305300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7877175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8077200" y="423163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8077200" y="2826394"/>
            <a:ext cx="35814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8077200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11649075" y="2826394"/>
            <a:ext cx="9525" cy="141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 txBox="1"/>
          <p:nvPr/>
        </p:nvSpPr>
        <p:spPr>
          <a:xfrm>
            <a:off x="647700" y="314325"/>
            <a:ext cx="203656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GENERATION HYPERPARAMETERS</a:t>
            </a:r>
            <a:endParaRPr/>
          </a:p>
        </p:txBody>
      </p:sp>
      <p:sp>
        <p:nvSpPr>
          <p:cNvPr id="684" name="Google Shape;684;p31"/>
          <p:cNvSpPr txBox="1"/>
          <p:nvPr/>
        </p:nvSpPr>
        <p:spPr>
          <a:xfrm>
            <a:off x="10401300" y="304800"/>
            <a:ext cx="15716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SAMPLING CONTROLS</a:t>
            </a:r>
            <a:endParaRPr/>
          </a:p>
        </p:txBody>
      </p:sp>
      <p:sp>
        <p:nvSpPr>
          <p:cNvPr id="685" name="Google Shape;685;p31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686" name="Google Shape;686;p31"/>
          <p:cNvSpPr txBox="1"/>
          <p:nvPr/>
        </p:nvSpPr>
        <p:spPr>
          <a:xfrm>
            <a:off x="10315575" y="6505575"/>
            <a:ext cx="16787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 • SAMPLING LEVERS</a:t>
            </a:r>
            <a:endParaRPr/>
          </a:p>
        </p:txBody>
      </p:sp>
      <p:sp>
        <p:nvSpPr>
          <p:cNvPr id="687" name="Google Shape;687;p31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Temperature, Top-K, and Top-P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These settings influence which next token is selected from the probability distribution: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Rule: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Tune one control at a time. APIs differ in how they combine them. Note: Temperature = 0 is not a universal guarantee of hardware determinism.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752475" y="3026419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($T$)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752475" y="3245494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Logit Scaling</a:t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771525" y="3434595"/>
            <a:ext cx="3238500" cy="87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Scales logits (zᵢ / T) before </a:t>
            </a:r>
            <a:r>
              <a:rPr lang="en-US" sz="975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Softmax</a:t>
            </a: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Lower temperatures concentrate probability mass on top tokens; higher temperatures spread probability more evenly.</a:t>
            </a:r>
            <a:endParaRPr lang="en-US" dirty="0"/>
          </a:p>
        </p:txBody>
      </p:sp>
      <p:sp>
        <p:nvSpPr>
          <p:cNvPr id="693" name="Google Shape;693;p31"/>
          <p:cNvSpPr txBox="1"/>
          <p:nvPr/>
        </p:nvSpPr>
        <p:spPr>
          <a:xfrm>
            <a:off x="4524375" y="3026419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TOP-K</a:t>
            </a:r>
            <a:endParaRPr/>
          </a:p>
        </p:txBody>
      </p:sp>
      <p:sp>
        <p:nvSpPr>
          <p:cNvPr id="694" name="Google Shape;694;p31"/>
          <p:cNvSpPr txBox="1"/>
          <p:nvPr/>
        </p:nvSpPr>
        <p:spPr>
          <a:xfrm>
            <a:off x="4524375" y="3245494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Candidate Ceiling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4524375" y="3521719"/>
            <a:ext cx="3238500" cy="652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Keeps only the k highest-probability tokens (e.g. k=50), then samples among them. Eliminates catastrophic low-probability tail tokens.</a:t>
            </a:r>
            <a:endParaRPr dirty="0"/>
          </a:p>
        </p:txBody>
      </p:sp>
      <p:sp>
        <p:nvSpPr>
          <p:cNvPr id="696" name="Google Shape;696;p31"/>
          <p:cNvSpPr txBox="1"/>
          <p:nvPr/>
        </p:nvSpPr>
        <p:spPr>
          <a:xfrm>
            <a:off x="8296275" y="3026419"/>
            <a:ext cx="3895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TOP-P (NUCLEUS)</a:t>
            </a:r>
            <a:endParaRPr/>
          </a:p>
        </p:txBody>
      </p:sp>
      <p:sp>
        <p:nvSpPr>
          <p:cNvPr id="697" name="Google Shape;697;p31"/>
          <p:cNvSpPr txBox="1"/>
          <p:nvPr/>
        </p:nvSpPr>
        <p:spPr>
          <a:xfrm>
            <a:off x="8296275" y="3245494"/>
            <a:ext cx="3895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Cumulative Mass</a:t>
            </a:r>
            <a:endParaRPr/>
          </a:p>
        </p:txBody>
      </p:sp>
      <p:sp>
        <p:nvSpPr>
          <p:cNvPr id="698" name="Google Shape;698;p31"/>
          <p:cNvSpPr txBox="1"/>
          <p:nvPr/>
        </p:nvSpPr>
        <p:spPr>
          <a:xfrm>
            <a:off x="8296275" y="3521719"/>
            <a:ext cx="3238500" cy="652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Keeps the smallest set of tokens whose cumulative probability reaches p (e.g. 0.90). The candidate pool dynamically expands or contracts.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2"/>
          <p:cNvSpPr/>
          <p:nvPr/>
        </p:nvSpPr>
        <p:spPr>
          <a:xfrm>
            <a:off x="533400" y="266700"/>
            <a:ext cx="859184" cy="219075"/>
          </a:xfrm>
          <a:prstGeom prst="roundRect">
            <a:avLst>
              <a:gd name="adj" fmla="val 26086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2"/>
          <p:cNvSpPr/>
          <p:nvPr/>
        </p:nvSpPr>
        <p:spPr>
          <a:xfrm>
            <a:off x="5177730" y="2307877"/>
            <a:ext cx="1836539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2"/>
          <p:cNvSpPr/>
          <p:nvPr/>
        </p:nvSpPr>
        <p:spPr>
          <a:xfrm>
            <a:off x="2895600" y="4054673"/>
            <a:ext cx="1657350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4781550" y="4054673"/>
            <a:ext cx="2314575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7324725" y="4054673"/>
            <a:ext cx="1971675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3725" y="4254698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9675" y="4254698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2850" y="4254698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2"/>
          <p:cNvSpPr txBox="1"/>
          <p:nvPr/>
        </p:nvSpPr>
        <p:spPr>
          <a:xfrm>
            <a:off x="647700" y="314325"/>
            <a:ext cx="72583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3</a:t>
            </a:r>
            <a:endParaRPr/>
          </a:p>
        </p:txBody>
      </p:sp>
      <p:sp>
        <p:nvSpPr>
          <p:cNvPr id="714" name="Google Shape;714;p32"/>
          <p:cNvSpPr txBox="1"/>
          <p:nvPr/>
        </p:nvSpPr>
        <p:spPr>
          <a:xfrm>
            <a:off x="10991850" y="304800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MINUTES</a:t>
            </a:r>
            <a:endParaRPr dirty="0"/>
          </a:p>
        </p:txBody>
      </p:sp>
      <p:sp>
        <p:nvSpPr>
          <p:cNvPr id="715" name="Google Shape;715;p32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716" name="Google Shape;716;p32"/>
          <p:cNvSpPr txBox="1"/>
          <p:nvPr/>
        </p:nvSpPr>
        <p:spPr>
          <a:xfrm>
            <a:off x="10544175" y="6505575"/>
            <a:ext cx="14001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• MCP SECTION</a:t>
            </a:r>
            <a:endParaRPr/>
          </a:p>
        </p:txBody>
      </p:sp>
      <p:sp>
        <p:nvSpPr>
          <p:cNvPr id="717" name="Google Shape;717;p32"/>
          <p:cNvSpPr txBox="1"/>
          <p:nvPr/>
        </p:nvSpPr>
        <p:spPr>
          <a:xfrm>
            <a:off x="5062463" y="2355502"/>
            <a:ext cx="206707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 ARCHITECTURE</a:t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133004" y="2660302"/>
            <a:ext cx="792599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Context Protocol (MCP)</a:t>
            </a:r>
            <a:endParaRPr/>
          </a:p>
        </p:txBody>
      </p:sp>
      <p:sp>
        <p:nvSpPr>
          <p:cNvPr id="719" name="Google Shape;719;p32"/>
          <p:cNvSpPr txBox="1"/>
          <p:nvPr/>
        </p:nvSpPr>
        <p:spPr>
          <a:xfrm>
            <a:off x="1095375" y="3273623"/>
            <a:ext cx="10001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Solving the N * M integration bottleneck with an open, standardized protocol for AI applications, capability servers, and tools.</a:t>
            </a:r>
            <a:endParaRPr dirty="0"/>
          </a:p>
        </p:txBody>
      </p:sp>
      <p:sp>
        <p:nvSpPr>
          <p:cNvPr id="720" name="Google Shape;720;p32"/>
          <p:cNvSpPr txBox="1"/>
          <p:nvPr/>
        </p:nvSpPr>
        <p:spPr>
          <a:xfrm>
            <a:off x="2968823" y="4249480"/>
            <a:ext cx="16144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Open Standard</a:t>
            </a:r>
            <a:endParaRPr dirty="0"/>
          </a:p>
        </p:txBody>
      </p:sp>
      <p:sp>
        <p:nvSpPr>
          <p:cNvPr id="721" name="Google Shape;721;p32"/>
          <p:cNvSpPr txBox="1"/>
          <p:nvPr/>
        </p:nvSpPr>
        <p:spPr>
          <a:xfrm>
            <a:off x="4781550" y="4234904"/>
            <a:ext cx="24360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Tools, Resources, Prompts</a:t>
            </a:r>
            <a:endParaRPr dirty="0"/>
          </a:p>
        </p:txBody>
      </p:sp>
      <p:sp>
        <p:nvSpPr>
          <p:cNvPr id="722" name="Google Shape;722;p32"/>
          <p:cNvSpPr txBox="1"/>
          <p:nvPr/>
        </p:nvSpPr>
        <p:spPr>
          <a:xfrm>
            <a:off x="7334250" y="4232574"/>
            <a:ext cx="20073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Human-in-the-Loop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3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533400" y="266700"/>
            <a:ext cx="1425029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3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3"/>
          <p:cNvSpPr/>
          <p:nvPr/>
        </p:nvSpPr>
        <p:spPr>
          <a:xfrm>
            <a:off x="533400" y="2805112"/>
            <a:ext cx="546735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3"/>
          <p:cNvSpPr/>
          <p:nvPr/>
        </p:nvSpPr>
        <p:spPr>
          <a:xfrm>
            <a:off x="6191250" y="2805112"/>
            <a:ext cx="5467350" cy="1438275"/>
          </a:xfrm>
          <a:prstGeom prst="roundRect">
            <a:avLst>
              <a:gd name="adj" fmla="val 662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533400" y="4233862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/>
          <p:nvPr/>
        </p:nvSpPr>
        <p:spPr>
          <a:xfrm>
            <a:off x="533400" y="2805112"/>
            <a:ext cx="546735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533400" y="2805112"/>
            <a:ext cx="9525" cy="14382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5991225" y="2805112"/>
            <a:ext cx="9525" cy="14382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6191250" y="4233862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6191250" y="2805112"/>
            <a:ext cx="546735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/>
          <p:nvPr/>
        </p:nvSpPr>
        <p:spPr>
          <a:xfrm>
            <a:off x="6191250" y="2805112"/>
            <a:ext cx="9525" cy="14382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3"/>
          <p:cNvSpPr/>
          <p:nvPr/>
        </p:nvSpPr>
        <p:spPr>
          <a:xfrm>
            <a:off x="11649075" y="2805112"/>
            <a:ext cx="9525" cy="14382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1" name="Google Shape;74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" y="3024187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325" y="3024187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3"/>
          <p:cNvSpPr txBox="1"/>
          <p:nvPr/>
        </p:nvSpPr>
        <p:spPr>
          <a:xfrm>
            <a:off x="647700" y="314325"/>
            <a:ext cx="129167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STANDARDS REALITY</a:t>
            </a:r>
            <a:endParaRPr/>
          </a:p>
        </p:txBody>
      </p:sp>
      <p:sp>
        <p:nvSpPr>
          <p:cNvPr id="744" name="Google Shape;744;p33"/>
          <p:cNvSpPr txBox="1"/>
          <p:nvPr/>
        </p:nvSpPr>
        <p:spPr>
          <a:xfrm>
            <a:off x="10277475" y="304800"/>
            <a:ext cx="1726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MCP IS AND IS NOT</a:t>
            </a:r>
            <a:endParaRPr/>
          </a:p>
        </p:txBody>
      </p:sp>
      <p:sp>
        <p:nvSpPr>
          <p:cNvPr id="745" name="Google Shape;745;p33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746" name="Google Shape;746;p33"/>
          <p:cNvSpPr txBox="1"/>
          <p:nvPr/>
        </p:nvSpPr>
        <p:spPr>
          <a:xfrm>
            <a:off x="9877425" y="6505575"/>
            <a:ext cx="22264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 • PROTOCOL BOUNDARIES</a:t>
            </a:r>
            <a:endParaRPr/>
          </a:p>
        </p:txBody>
      </p:sp>
      <p:sp>
        <p:nvSpPr>
          <p:cNvPr id="747" name="Google Shape;747;p33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MCP Standardizes vs What It Does NOT</a:t>
            </a:r>
            <a:endParaRPr/>
          </a:p>
        </p:txBody>
      </p:sp>
      <p:sp>
        <p:nvSpPr>
          <p:cNvPr id="748" name="Google Shape;748;p33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is the open transport pipe, not an automated security boundary:</a:t>
            </a:r>
            <a:endParaRPr/>
          </a:p>
        </p:txBody>
      </p:sp>
      <p:sp>
        <p:nvSpPr>
          <p:cNvPr id="749" name="Google Shape;749;p33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Guardrail: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Security remains the application developer's responsibility. The host runtime enforces permissions.</a:t>
            </a:r>
            <a:endParaRPr/>
          </a:p>
        </p:txBody>
      </p:sp>
      <p:sp>
        <p:nvSpPr>
          <p:cNvPr id="750" name="Google Shape;750;p33"/>
          <p:cNvSpPr txBox="1"/>
          <p:nvPr/>
        </p:nvSpPr>
        <p:spPr>
          <a:xfrm>
            <a:off x="752475" y="3005137"/>
            <a:ext cx="62865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BY MCP</a:t>
            </a:r>
            <a:endParaRPr/>
          </a:p>
        </p:txBody>
      </p:sp>
      <p:sp>
        <p:nvSpPr>
          <p:cNvPr id="751" name="Google Shape;751;p33"/>
          <p:cNvSpPr txBox="1"/>
          <p:nvPr/>
        </p:nvSpPr>
        <p:spPr>
          <a:xfrm>
            <a:off x="752475" y="3224212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Wire format for tool/resource discovery (JSON-RPC 2.0)</a:t>
            </a:r>
            <a:endParaRPr/>
          </a:p>
        </p:txBody>
      </p:sp>
      <p:sp>
        <p:nvSpPr>
          <p:cNvPr id="752" name="Google Shape;752;p33"/>
          <p:cNvSpPr txBox="1"/>
          <p:nvPr/>
        </p:nvSpPr>
        <p:spPr>
          <a:xfrm>
            <a:off x="752475" y="3452812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Schema parameter transport and structured responses</a:t>
            </a:r>
            <a:endParaRPr/>
          </a:p>
        </p:txBody>
      </p:sp>
      <p:sp>
        <p:nvSpPr>
          <p:cNvPr id="753" name="Google Shape;753;p33"/>
          <p:cNvSpPr txBox="1"/>
          <p:nvPr/>
        </p:nvSpPr>
        <p:spPr>
          <a:xfrm>
            <a:off x="752475" y="3681412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Unified client-server lifecycle management</a:t>
            </a:r>
            <a:endParaRPr/>
          </a:p>
        </p:txBody>
      </p:sp>
      <p:sp>
        <p:nvSpPr>
          <p:cNvPr id="754" name="Google Shape;754;p33"/>
          <p:cNvSpPr txBox="1"/>
          <p:nvPr/>
        </p:nvSpPr>
        <p:spPr>
          <a:xfrm>
            <a:off x="752475" y="3910012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Standard transports (STDIO subprocesses, HTTP with SSE)</a:t>
            </a:r>
            <a:endParaRPr dirty="0"/>
          </a:p>
        </p:txBody>
      </p:sp>
      <p:sp>
        <p:nvSpPr>
          <p:cNvPr id="755" name="Google Shape;755;p33"/>
          <p:cNvSpPr txBox="1"/>
          <p:nvPr/>
        </p:nvSpPr>
        <p:spPr>
          <a:xfrm>
            <a:off x="6410325" y="3005137"/>
            <a:ext cx="5781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GUARANTEED BY MCP</a:t>
            </a:r>
            <a:endParaRPr/>
          </a:p>
        </p:txBody>
      </p:sp>
      <p:sp>
        <p:nvSpPr>
          <p:cNvPr id="756" name="Google Shape;756;p33"/>
          <p:cNvSpPr txBox="1"/>
          <p:nvPr/>
        </p:nvSpPr>
        <p:spPr>
          <a:xfrm>
            <a:off x="6410325" y="3224212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Does not guarantee the LLM will pick the right tool</a:t>
            </a:r>
            <a:endParaRPr/>
          </a:p>
        </p:txBody>
      </p:sp>
      <p:sp>
        <p:nvSpPr>
          <p:cNvPr id="757" name="Google Shape;757;p33"/>
          <p:cNvSpPr txBox="1"/>
          <p:nvPr/>
        </p:nvSpPr>
        <p:spPr>
          <a:xfrm>
            <a:off x="6410325" y="3452812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Does not manage authorization policies or fine-grained RBAC</a:t>
            </a:r>
            <a:endParaRPr/>
          </a:p>
        </p:txBody>
      </p:sp>
      <p:sp>
        <p:nvSpPr>
          <p:cNvPr id="758" name="Google Shape;758;p33"/>
          <p:cNvSpPr txBox="1"/>
          <p:nvPr/>
        </p:nvSpPr>
        <p:spPr>
          <a:xfrm>
            <a:off x="6410325" y="3681412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Does not sanitize malicious tool inputs automatically</a:t>
            </a:r>
            <a:endParaRPr/>
          </a:p>
        </p:txBody>
      </p:sp>
      <p:sp>
        <p:nvSpPr>
          <p:cNvPr id="759" name="Google Shape;759;p33"/>
          <p:cNvSpPr txBox="1"/>
          <p:nvPr/>
        </p:nvSpPr>
        <p:spPr>
          <a:xfrm>
            <a:off x="6410325" y="3910012"/>
            <a:ext cx="5781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Does not replace human approval for irreversible actions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4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533400" y="266700"/>
            <a:ext cx="2074664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4"/>
          <p:cNvSpPr/>
          <p:nvPr/>
        </p:nvSpPr>
        <p:spPr>
          <a:xfrm>
            <a:off x="533400" y="2835175"/>
            <a:ext cx="5457825" cy="1397198"/>
          </a:xfrm>
          <a:prstGeom prst="roundRect">
            <a:avLst>
              <a:gd name="adj" fmla="val 681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6181725" y="2835175"/>
            <a:ext cx="5476875" cy="1397198"/>
          </a:xfrm>
          <a:prstGeom prst="roundRect">
            <a:avLst>
              <a:gd name="adj" fmla="val 6817"/>
            </a:avLst>
          </a:prstGeom>
          <a:solidFill>
            <a:srgbClr val="F0F9FF"/>
          </a:solidFill>
          <a:ln w="1905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4"/>
          <p:cNvSpPr/>
          <p:nvPr/>
        </p:nvSpPr>
        <p:spPr>
          <a:xfrm>
            <a:off x="752475" y="3670399"/>
            <a:ext cx="5019675" cy="361950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6410325" y="3679924"/>
            <a:ext cx="5019675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 txBox="1"/>
          <p:nvPr/>
        </p:nvSpPr>
        <p:spPr>
          <a:xfrm>
            <a:off x="647700" y="314325"/>
            <a:ext cx="194131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INTEGRATION BOTTLENECK</a:t>
            </a:r>
            <a:endParaRPr/>
          </a:p>
        </p:txBody>
      </p:sp>
      <p:sp>
        <p:nvSpPr>
          <p:cNvPr id="773" name="Google Shape;773;p34"/>
          <p:cNvSpPr txBox="1"/>
          <p:nvPr/>
        </p:nvSpPr>
        <p:spPr>
          <a:xfrm>
            <a:off x="9391650" y="304800"/>
            <a:ext cx="2800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PROTOCOL INSTEAD OF N × M GLUE</a:t>
            </a:r>
            <a:endParaRPr/>
          </a:p>
        </p:txBody>
      </p:sp>
      <p:sp>
        <p:nvSpPr>
          <p:cNvPr id="774" name="Google Shape;774;p34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775" name="Google Shape;775;p34"/>
          <p:cNvSpPr txBox="1"/>
          <p:nvPr/>
        </p:nvSpPr>
        <p:spPr>
          <a:xfrm>
            <a:off x="10120312" y="6505575"/>
            <a:ext cx="192285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 • N × M GLUE PROBLEM</a:t>
            </a:r>
            <a:endParaRPr/>
          </a:p>
        </p:txBody>
      </p:sp>
      <p:sp>
        <p:nvSpPr>
          <p:cNvPr id="776" name="Google Shape;776;p34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Protocol Instead of N * M Glue</a:t>
            </a:r>
            <a:endParaRPr dirty="0"/>
          </a:p>
        </p:txBody>
      </p:sp>
      <p:sp>
        <p:nvSpPr>
          <p:cNvPr id="777" name="Google Shape;777;p34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MCP, every AI client needed a bespoke integration for every backend data source:</a:t>
            </a:r>
            <a:endParaRPr/>
          </a:p>
        </p:txBody>
      </p:sp>
      <p:sp>
        <p:nvSpPr>
          <p:cNvPr id="778" name="Google Shape;778;p34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LSP Analogy: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Like Language Server Protocol for code editors: one Python language server works identically across VS Code, Neovim, and Cursor.</a:t>
            </a:r>
            <a:endParaRPr/>
          </a:p>
        </p:txBody>
      </p:sp>
      <p:sp>
        <p:nvSpPr>
          <p:cNvPr id="779" name="Google Shape;779;p34"/>
          <p:cNvSpPr txBox="1"/>
          <p:nvPr/>
        </p:nvSpPr>
        <p:spPr>
          <a:xfrm>
            <a:off x="752475" y="3016150"/>
            <a:ext cx="62745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WITHOUT MCP: N times M COMPLEXITY</a:t>
            </a:r>
            <a:endParaRPr dirty="0"/>
          </a:p>
        </p:txBody>
      </p:sp>
      <p:sp>
        <p:nvSpPr>
          <p:cNvPr id="780" name="Google Shape;780;p34"/>
          <p:cNvSpPr txBox="1"/>
          <p:nvPr/>
        </p:nvSpPr>
        <p:spPr>
          <a:xfrm>
            <a:off x="752475" y="3235225"/>
            <a:ext cx="5114925" cy="358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a client, rewrite every connector. Add a backend, update every client. Cost grows multiplicatively.</a:t>
            </a:r>
            <a:endParaRPr/>
          </a:p>
        </p:txBody>
      </p:sp>
      <p:sp>
        <p:nvSpPr>
          <p:cNvPr id="781" name="Google Shape;781;p34"/>
          <p:cNvSpPr txBox="1"/>
          <p:nvPr/>
        </p:nvSpPr>
        <p:spPr>
          <a:xfrm>
            <a:off x="220265" y="3765649"/>
            <a:ext cx="608409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12+ Point-to-Point Bespoke Adapters</a:t>
            </a:r>
            <a:endParaRPr/>
          </a:p>
        </p:txBody>
      </p:sp>
      <p:sp>
        <p:nvSpPr>
          <p:cNvPr id="782" name="Google Shape;782;p34"/>
          <p:cNvSpPr txBox="1"/>
          <p:nvPr/>
        </p:nvSpPr>
        <p:spPr>
          <a:xfrm>
            <a:off x="6410325" y="3025675"/>
            <a:ext cx="5781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MCP: N + M STANDARDIZATION</a:t>
            </a:r>
            <a:endParaRPr dirty="0"/>
          </a:p>
        </p:txBody>
      </p:sp>
      <p:sp>
        <p:nvSpPr>
          <p:cNvPr id="783" name="Google Shape;783;p34"/>
          <p:cNvSpPr txBox="1"/>
          <p:nvPr/>
        </p:nvSpPr>
        <p:spPr>
          <a:xfrm>
            <a:off x="6410325" y="3244750"/>
            <a:ext cx="5114925" cy="358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 the server once—every compliant client can connect to it. Swap hosts without touching tools.</a:t>
            </a:r>
            <a:endParaRPr/>
          </a:p>
        </p:txBody>
      </p:sp>
      <p:sp>
        <p:nvSpPr>
          <p:cNvPr id="784" name="Google Shape;784;p34"/>
          <p:cNvSpPr txBox="1"/>
          <p:nvPr/>
        </p:nvSpPr>
        <p:spPr>
          <a:xfrm>
            <a:off x="5878115" y="3775174"/>
            <a:ext cx="608409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 Modular Standard MCP Implementations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5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5"/>
          <p:cNvSpPr/>
          <p:nvPr/>
        </p:nvSpPr>
        <p:spPr>
          <a:xfrm>
            <a:off x="533400" y="266700"/>
            <a:ext cx="1621184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533400" y="2905125"/>
            <a:ext cx="266700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/>
          <p:nvPr/>
        </p:nvSpPr>
        <p:spPr>
          <a:xfrm>
            <a:off x="3352800" y="2905125"/>
            <a:ext cx="266700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6172200" y="2905125"/>
            <a:ext cx="266700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5"/>
          <p:cNvSpPr/>
          <p:nvPr/>
        </p:nvSpPr>
        <p:spPr>
          <a:xfrm>
            <a:off x="8991600" y="2905125"/>
            <a:ext cx="266700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533400" y="415290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533400" y="2905125"/>
            <a:ext cx="2667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533400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5"/>
          <p:cNvSpPr/>
          <p:nvPr/>
        </p:nvSpPr>
        <p:spPr>
          <a:xfrm>
            <a:off x="3190875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5"/>
          <p:cNvSpPr/>
          <p:nvPr/>
        </p:nvSpPr>
        <p:spPr>
          <a:xfrm>
            <a:off x="3352800" y="415290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3352800" y="2905125"/>
            <a:ext cx="2667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3352800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6010275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6172200" y="415290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5"/>
          <p:cNvSpPr/>
          <p:nvPr/>
        </p:nvSpPr>
        <p:spPr>
          <a:xfrm>
            <a:off x="6172200" y="2905125"/>
            <a:ext cx="2667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6172200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8829675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5"/>
          <p:cNvSpPr/>
          <p:nvPr/>
        </p:nvSpPr>
        <p:spPr>
          <a:xfrm>
            <a:off x="8991600" y="415290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8991600" y="2905125"/>
            <a:ext cx="2667000" cy="2857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5"/>
          <p:cNvSpPr/>
          <p:nvPr/>
        </p:nvSpPr>
        <p:spPr>
          <a:xfrm>
            <a:off x="8991600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5"/>
          <p:cNvSpPr/>
          <p:nvPr/>
        </p:nvSpPr>
        <p:spPr>
          <a:xfrm>
            <a:off x="11649075" y="290512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5"/>
          <p:cNvSpPr txBox="1"/>
          <p:nvPr/>
        </p:nvSpPr>
        <p:spPr>
          <a:xfrm>
            <a:off x="647700" y="314325"/>
            <a:ext cx="148783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814" name="Google Shape;814;p35"/>
          <p:cNvSpPr txBox="1"/>
          <p:nvPr/>
        </p:nvSpPr>
        <p:spPr>
          <a:xfrm>
            <a:off x="10829925" y="304800"/>
            <a:ext cx="1114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MCP TRIAD</a:t>
            </a:r>
            <a:endParaRPr/>
          </a:p>
        </p:txBody>
      </p:sp>
      <p:sp>
        <p:nvSpPr>
          <p:cNvPr id="815" name="Google Shape;815;p35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816" name="Google Shape;816;p35"/>
          <p:cNvSpPr txBox="1"/>
          <p:nvPr/>
        </p:nvSpPr>
        <p:spPr>
          <a:xfrm>
            <a:off x="10491787" y="6505575"/>
            <a:ext cx="145851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 • ARCHITECTURE</a:t>
            </a:r>
            <a:endParaRPr/>
          </a:p>
        </p:txBody>
      </p:sp>
      <p:sp>
        <p:nvSpPr>
          <p:cNvPr id="817" name="Google Shape;817;p35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Host, Client, Server — And Nothing Else</a:t>
            </a:r>
            <a:endParaRPr/>
          </a:p>
        </p:txBody>
      </p:sp>
      <p:sp>
        <p:nvSpPr>
          <p:cNvPr id="818" name="Google Shape;818;p35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clean separation of concerns connected over JSON-RPC 2.0 (stdio or Streamable HTTP):</a:t>
            </a:r>
            <a:endParaRPr/>
          </a:p>
        </p:txBody>
      </p:sp>
      <p:sp>
        <p:nvSpPr>
          <p:cNvPr id="819" name="Google Shape;819;p35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Transport Layer: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Local processes run over standard I/O (stdio); remote microservices connect via Streamable HTTP / Server-Sent Events (SSE).</a:t>
            </a:r>
            <a:endParaRPr/>
          </a:p>
        </p:txBody>
      </p:sp>
      <p:sp>
        <p:nvSpPr>
          <p:cNvPr id="820" name="Google Shape;820;p35"/>
          <p:cNvSpPr txBox="1"/>
          <p:nvPr/>
        </p:nvSpPr>
        <p:spPr>
          <a:xfrm>
            <a:off x="752475" y="3105150"/>
            <a:ext cx="27860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HOST</a:t>
            </a:r>
            <a:endParaRPr/>
          </a:p>
        </p:txBody>
      </p:sp>
      <p:sp>
        <p:nvSpPr>
          <p:cNvPr id="821" name="Google Shape;821;p35"/>
          <p:cNvSpPr txBox="1"/>
          <p:nvPr/>
        </p:nvSpPr>
        <p:spPr>
          <a:xfrm>
            <a:off x="752475" y="3286125"/>
            <a:ext cx="292536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AI Application</a:t>
            </a:r>
            <a:endParaRPr/>
          </a:p>
        </p:txBody>
      </p:sp>
      <p:sp>
        <p:nvSpPr>
          <p:cNvPr id="822" name="Google Shape;822;p35"/>
          <p:cNvSpPr txBox="1"/>
          <p:nvPr/>
        </p:nvSpPr>
        <p:spPr>
          <a:xfrm>
            <a:off x="752475" y="352425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Code, Claude Desktop, or your custom Python agent. Owns model interaction, UI, and consent prompts.</a:t>
            </a:r>
            <a:endParaRPr/>
          </a:p>
        </p:txBody>
      </p:sp>
      <p:sp>
        <p:nvSpPr>
          <p:cNvPr id="823" name="Google Shape;823;p35"/>
          <p:cNvSpPr txBox="1"/>
          <p:nvPr/>
        </p:nvSpPr>
        <p:spPr>
          <a:xfrm>
            <a:off x="3571875" y="3105150"/>
            <a:ext cx="27860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CLIENT</a:t>
            </a:r>
            <a:endParaRPr/>
          </a:p>
        </p:txBody>
      </p:sp>
      <p:sp>
        <p:nvSpPr>
          <p:cNvPr id="824" name="Google Shape;824;p35"/>
          <p:cNvSpPr txBox="1"/>
          <p:nvPr/>
        </p:nvSpPr>
        <p:spPr>
          <a:xfrm>
            <a:off x="3571875" y="3286125"/>
            <a:ext cx="292536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 Adapter</a:t>
            </a:r>
            <a:endParaRPr/>
          </a:p>
        </p:txBody>
      </p:sp>
      <p:sp>
        <p:nvSpPr>
          <p:cNvPr id="825" name="Google Shape;825;p35"/>
          <p:cNvSpPr txBox="1"/>
          <p:nvPr/>
        </p:nvSpPr>
        <p:spPr>
          <a:xfrm>
            <a:off x="3571875" y="352425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Maintains 1:1 connections with servers. Speaks the protocol and keeps server capabilities strictly isolated.</a:t>
            </a:r>
            <a:endParaRPr/>
          </a:p>
        </p:txBody>
      </p:sp>
      <p:sp>
        <p:nvSpPr>
          <p:cNvPr id="826" name="Google Shape;826;p35"/>
          <p:cNvSpPr txBox="1"/>
          <p:nvPr/>
        </p:nvSpPr>
        <p:spPr>
          <a:xfrm>
            <a:off x="6391275" y="3105150"/>
            <a:ext cx="27860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SERVER</a:t>
            </a:r>
            <a:endParaRPr/>
          </a:p>
        </p:txBody>
      </p:sp>
      <p:sp>
        <p:nvSpPr>
          <p:cNvPr id="827" name="Google Shape;827;p35"/>
          <p:cNvSpPr txBox="1"/>
          <p:nvPr/>
        </p:nvSpPr>
        <p:spPr>
          <a:xfrm>
            <a:off x="6391275" y="3286125"/>
            <a:ext cx="292536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Capability Provider</a:t>
            </a:r>
            <a:endParaRPr/>
          </a:p>
        </p:txBody>
      </p:sp>
      <p:sp>
        <p:nvSpPr>
          <p:cNvPr id="828" name="Google Shape;828;p35"/>
          <p:cNvSpPr txBox="1"/>
          <p:nvPr/>
        </p:nvSpPr>
        <p:spPr>
          <a:xfrm>
            <a:off x="6391275" y="352425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executable code. Declares tools, exposes resources, and supplies prompt templates to the client.</a:t>
            </a:r>
            <a:endParaRPr/>
          </a:p>
        </p:txBody>
      </p:sp>
      <p:sp>
        <p:nvSpPr>
          <p:cNvPr id="829" name="Google Shape;829;p35"/>
          <p:cNvSpPr txBox="1"/>
          <p:nvPr/>
        </p:nvSpPr>
        <p:spPr>
          <a:xfrm>
            <a:off x="9210675" y="3105150"/>
            <a:ext cx="27860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SYSTEM</a:t>
            </a:r>
            <a:endParaRPr/>
          </a:p>
        </p:txBody>
      </p:sp>
      <p:sp>
        <p:nvSpPr>
          <p:cNvPr id="830" name="Google Shape;830;p35"/>
          <p:cNvSpPr txBox="1"/>
          <p:nvPr/>
        </p:nvSpPr>
        <p:spPr>
          <a:xfrm>
            <a:off x="9210675" y="3286125"/>
            <a:ext cx="292536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Underlying Data</a:t>
            </a:r>
            <a:endParaRPr/>
          </a:p>
        </p:txBody>
      </p:sp>
      <p:sp>
        <p:nvSpPr>
          <p:cNvPr id="831" name="Google Shape;831;p35"/>
          <p:cNvSpPr txBox="1"/>
          <p:nvPr/>
        </p:nvSpPr>
        <p:spPr>
          <a:xfrm>
            <a:off x="9210675" y="3524250"/>
            <a:ext cx="2324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Postgres, SQL, REST APIs, local file trees. Knows nothing about LLMs or MCP.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6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6"/>
          <p:cNvSpPr/>
          <p:nvPr/>
        </p:nvSpPr>
        <p:spPr>
          <a:xfrm>
            <a:off x="533400" y="266700"/>
            <a:ext cx="1592609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6"/>
          <p:cNvSpPr/>
          <p:nvPr/>
        </p:nvSpPr>
        <p:spPr>
          <a:xfrm>
            <a:off x="533400" y="2825948"/>
            <a:ext cx="3581400" cy="1415653"/>
          </a:xfrm>
          <a:prstGeom prst="roundRect">
            <a:avLst>
              <a:gd name="adj" fmla="val 672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6"/>
          <p:cNvSpPr/>
          <p:nvPr/>
        </p:nvSpPr>
        <p:spPr>
          <a:xfrm>
            <a:off x="4305300" y="2825948"/>
            <a:ext cx="3581400" cy="1415653"/>
          </a:xfrm>
          <a:prstGeom prst="roundRect">
            <a:avLst>
              <a:gd name="adj" fmla="val 672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8077200" y="2825948"/>
            <a:ext cx="3581400" cy="1415653"/>
          </a:xfrm>
          <a:prstGeom prst="roundRect">
            <a:avLst>
              <a:gd name="adj" fmla="val 6728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6"/>
          <p:cNvSpPr/>
          <p:nvPr/>
        </p:nvSpPr>
        <p:spPr>
          <a:xfrm>
            <a:off x="533400" y="423207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533400" y="2825948"/>
            <a:ext cx="35814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6"/>
          <p:cNvSpPr/>
          <p:nvPr/>
        </p:nvSpPr>
        <p:spPr>
          <a:xfrm>
            <a:off x="533400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6"/>
          <p:cNvSpPr/>
          <p:nvPr/>
        </p:nvSpPr>
        <p:spPr>
          <a:xfrm>
            <a:off x="4105275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6"/>
          <p:cNvSpPr/>
          <p:nvPr/>
        </p:nvSpPr>
        <p:spPr>
          <a:xfrm>
            <a:off x="4305300" y="423207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6"/>
          <p:cNvSpPr/>
          <p:nvPr/>
        </p:nvSpPr>
        <p:spPr>
          <a:xfrm>
            <a:off x="4305300" y="2825948"/>
            <a:ext cx="35814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6"/>
          <p:cNvSpPr/>
          <p:nvPr/>
        </p:nvSpPr>
        <p:spPr>
          <a:xfrm>
            <a:off x="4305300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6"/>
          <p:cNvSpPr/>
          <p:nvPr/>
        </p:nvSpPr>
        <p:spPr>
          <a:xfrm>
            <a:off x="7877175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6"/>
          <p:cNvSpPr/>
          <p:nvPr/>
        </p:nvSpPr>
        <p:spPr>
          <a:xfrm>
            <a:off x="8077200" y="423207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6"/>
          <p:cNvSpPr/>
          <p:nvPr/>
        </p:nvSpPr>
        <p:spPr>
          <a:xfrm>
            <a:off x="8077200" y="2825948"/>
            <a:ext cx="35814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6"/>
          <p:cNvSpPr/>
          <p:nvPr/>
        </p:nvSpPr>
        <p:spPr>
          <a:xfrm>
            <a:off x="8077200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6"/>
          <p:cNvSpPr/>
          <p:nvPr/>
        </p:nvSpPr>
        <p:spPr>
          <a:xfrm>
            <a:off x="11649075" y="2825948"/>
            <a:ext cx="9525" cy="141565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6"/>
          <p:cNvSpPr txBox="1"/>
          <p:nvPr/>
        </p:nvSpPr>
        <p:spPr>
          <a:xfrm>
            <a:off x="647700" y="314325"/>
            <a:ext cx="145925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 PRIMITIVES</a:t>
            </a:r>
            <a:endParaRPr/>
          </a:p>
        </p:txBody>
      </p:sp>
      <p:sp>
        <p:nvSpPr>
          <p:cNvPr id="856" name="Google Shape;856;p36"/>
          <p:cNvSpPr txBox="1"/>
          <p:nvPr/>
        </p:nvSpPr>
        <p:spPr>
          <a:xfrm>
            <a:off x="10658475" y="304800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CAPABILITY TYPES</a:t>
            </a:r>
            <a:endParaRPr/>
          </a:p>
        </p:txBody>
      </p:sp>
      <p:sp>
        <p:nvSpPr>
          <p:cNvPr id="857" name="Google Shape;857;p36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858" name="Google Shape;858;p36"/>
          <p:cNvSpPr txBox="1"/>
          <p:nvPr/>
        </p:nvSpPr>
        <p:spPr>
          <a:xfrm>
            <a:off x="10606087" y="6505575"/>
            <a:ext cx="13382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 • CAPABILITIES</a:t>
            </a:r>
            <a:endParaRPr/>
          </a:p>
        </p:txBody>
      </p:sp>
      <p:sp>
        <p:nvSpPr>
          <p:cNvPr id="859" name="Google Shape;859;p36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 Server Can Expose: Tools, Resources, Prompts</a:t>
            </a:r>
            <a:endParaRPr/>
          </a:p>
        </p:txBody>
      </p:sp>
      <p:sp>
        <p:nvSpPr>
          <p:cNvPr id="860" name="Google Shape;860;p36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 capability types—distinguished by who initiates their use:</a:t>
            </a:r>
            <a:endParaRPr/>
          </a:p>
        </p:txBody>
      </p:sp>
      <p:sp>
        <p:nvSpPr>
          <p:cNvPr id="861" name="Google Shape;861;p36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Distinction: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Who initiates? The </a:t>
            </a:r>
            <a:r>
              <a:rPr lang="en-US" sz="97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calls tools, the </a:t>
            </a:r>
            <a:r>
              <a:rPr lang="en-US" sz="97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attaches resources, and the </a:t>
            </a:r>
            <a:r>
              <a:rPr lang="en-US" sz="97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 user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triggers prompts.</a:t>
            </a:r>
            <a:endParaRPr/>
          </a:p>
        </p:txBody>
      </p:sp>
      <p:sp>
        <p:nvSpPr>
          <p:cNvPr id="862" name="Google Shape;862;p36"/>
          <p:cNvSpPr txBox="1"/>
          <p:nvPr/>
        </p:nvSpPr>
        <p:spPr>
          <a:xfrm>
            <a:off x="752475" y="3025973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 • MODEL-DRIVEN</a:t>
            </a:r>
            <a:endParaRPr/>
          </a:p>
        </p:txBody>
      </p:sp>
      <p:sp>
        <p:nvSpPr>
          <p:cNvPr id="863" name="Google Shape;863;p36"/>
          <p:cNvSpPr txBox="1"/>
          <p:nvPr/>
        </p:nvSpPr>
        <p:spPr>
          <a:xfrm>
            <a:off x="752475" y="3245048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Executable Operations</a:t>
            </a:r>
            <a:endParaRPr/>
          </a:p>
        </p:txBody>
      </p:sp>
      <p:sp>
        <p:nvSpPr>
          <p:cNvPr id="864" name="Google Shape;864;p36"/>
          <p:cNvSpPr txBox="1"/>
          <p:nvPr/>
        </p:nvSpPr>
        <p:spPr>
          <a:xfrm>
            <a:off x="752475" y="3521273"/>
            <a:ext cx="3238500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Functions invoked by the model to perform actions: query marks, create a ticket, calculate values. Side-effects require host consent.</a:t>
            </a:r>
            <a:endParaRPr/>
          </a:p>
        </p:txBody>
      </p:sp>
      <p:sp>
        <p:nvSpPr>
          <p:cNvPr id="865" name="Google Shape;865;p36"/>
          <p:cNvSpPr txBox="1"/>
          <p:nvPr/>
        </p:nvSpPr>
        <p:spPr>
          <a:xfrm>
            <a:off x="4524375" y="3025973"/>
            <a:ext cx="392906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RESOURCES • APP-DRIVEN</a:t>
            </a:r>
            <a:endParaRPr/>
          </a:p>
        </p:txBody>
      </p:sp>
      <p:sp>
        <p:nvSpPr>
          <p:cNvPr id="866" name="Google Shape;866;p36"/>
          <p:cNvSpPr txBox="1"/>
          <p:nvPr/>
        </p:nvSpPr>
        <p:spPr>
          <a:xfrm>
            <a:off x="4524375" y="3245048"/>
            <a:ext cx="41255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Readable Context</a:t>
            </a:r>
            <a:endParaRPr/>
          </a:p>
        </p:txBody>
      </p:sp>
      <p:sp>
        <p:nvSpPr>
          <p:cNvPr id="867" name="Google Shape;867;p36"/>
          <p:cNvSpPr txBox="1"/>
          <p:nvPr/>
        </p:nvSpPr>
        <p:spPr>
          <a:xfrm>
            <a:off x="4524375" y="3521273"/>
            <a:ext cx="3238500" cy="53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Passive context attachments: files, database schemas, records, or logs identified by URIs (</a:t>
            </a:r>
            <a:r>
              <a:rPr lang="en-US" sz="8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file:///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8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db://schema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868" name="Google Shape;868;p36"/>
          <p:cNvSpPr txBox="1"/>
          <p:nvPr/>
        </p:nvSpPr>
        <p:spPr>
          <a:xfrm>
            <a:off x="8296275" y="3025973"/>
            <a:ext cx="38957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PROMPTS • USER-DRIVEN</a:t>
            </a:r>
            <a:endParaRPr/>
          </a:p>
        </p:txBody>
      </p:sp>
      <p:sp>
        <p:nvSpPr>
          <p:cNvPr id="869" name="Google Shape;869;p36"/>
          <p:cNvSpPr txBox="1"/>
          <p:nvPr/>
        </p:nvSpPr>
        <p:spPr>
          <a:xfrm>
            <a:off x="8296275" y="3245048"/>
            <a:ext cx="3895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Workflows</a:t>
            </a:r>
            <a:endParaRPr/>
          </a:p>
        </p:txBody>
      </p:sp>
      <p:sp>
        <p:nvSpPr>
          <p:cNvPr id="870" name="Google Shape;870;p36"/>
          <p:cNvSpPr txBox="1"/>
          <p:nvPr/>
        </p:nvSpPr>
        <p:spPr>
          <a:xfrm>
            <a:off x="8296275" y="3521273"/>
            <a:ext cx="3238500" cy="53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Reusable prompt templates provided by the server to guide users through complex domain tasks (e.g. "Review Pull Request").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7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7"/>
          <p:cNvSpPr/>
          <p:nvPr/>
        </p:nvSpPr>
        <p:spPr>
          <a:xfrm>
            <a:off x="533400" y="266700"/>
            <a:ext cx="1240184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7"/>
          <p:cNvSpPr/>
          <p:nvPr/>
        </p:nvSpPr>
        <p:spPr>
          <a:xfrm>
            <a:off x="533400" y="5810250"/>
            <a:ext cx="111252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7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7"/>
          <p:cNvSpPr/>
          <p:nvPr/>
        </p:nvSpPr>
        <p:spPr>
          <a:xfrm>
            <a:off x="533400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2139106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7"/>
          <p:cNvSpPr/>
          <p:nvPr/>
        </p:nvSpPr>
        <p:spPr>
          <a:xfrm>
            <a:off x="3744813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7"/>
          <p:cNvSpPr/>
          <p:nvPr/>
        </p:nvSpPr>
        <p:spPr>
          <a:xfrm>
            <a:off x="5350519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7"/>
          <p:cNvSpPr/>
          <p:nvPr/>
        </p:nvSpPr>
        <p:spPr>
          <a:xfrm>
            <a:off x="6956226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8561933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10167639" y="3095625"/>
            <a:ext cx="1491406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"/>
          <p:cNvSpPr txBox="1"/>
          <p:nvPr/>
        </p:nvSpPr>
        <p:spPr>
          <a:xfrm>
            <a:off x="647700" y="314325"/>
            <a:ext cx="1106834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LIFECYCLE FLOW</a:t>
            </a:r>
            <a:endParaRPr/>
          </a:p>
        </p:txBody>
      </p:sp>
      <p:sp>
        <p:nvSpPr>
          <p:cNvPr id="887" name="Google Shape;887;p37"/>
          <p:cNvSpPr txBox="1"/>
          <p:nvPr/>
        </p:nvSpPr>
        <p:spPr>
          <a:xfrm>
            <a:off x="10306050" y="304800"/>
            <a:ext cx="16906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TO END EXECUTION</a:t>
            </a:r>
            <a:endParaRPr/>
          </a:p>
        </p:txBody>
      </p:sp>
      <p:sp>
        <p:nvSpPr>
          <p:cNvPr id="888" name="Google Shape;888;p37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889" name="Google Shape;889;p37"/>
          <p:cNvSpPr txBox="1"/>
          <p:nvPr/>
        </p:nvSpPr>
        <p:spPr>
          <a:xfrm>
            <a:off x="10763250" y="6505575"/>
            <a:ext cx="118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 • LIFECYCLE</a:t>
            </a:r>
            <a:endParaRPr/>
          </a:p>
        </p:txBody>
      </p:sp>
      <p:sp>
        <p:nvSpPr>
          <p:cNvPr id="890" name="Google Shape;890;p37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to End: One Question, Start to Finish</a:t>
            </a:r>
            <a:endParaRPr/>
          </a:p>
        </p:txBody>
      </p:sp>
      <p:sp>
        <p:nvSpPr>
          <p:cNvPr id="891" name="Google Shape;891;p37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Tracing a tool request across the protocol boundary:</a:t>
            </a:r>
            <a:endParaRPr/>
          </a:p>
        </p:txBody>
      </p:sp>
      <p:sp>
        <p:nvSpPr>
          <p:cNvPr id="892" name="Google Shape;892;p37"/>
          <p:cNvSpPr txBox="1"/>
          <p:nvPr/>
        </p:nvSpPr>
        <p:spPr>
          <a:xfrm>
            <a:off x="723900" y="5924550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Dynamics:</a:t>
            </a:r>
            <a:r>
              <a:rPr lang="en-US" sz="97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Steps 1–3 happen once per session. Steps 5–7 loop continuously in an agent loop until the task terminates.</a:t>
            </a:r>
            <a:endParaRPr/>
          </a:p>
        </p:txBody>
      </p:sp>
      <p:sp>
        <p:nvSpPr>
          <p:cNvPr id="893" name="Google Shape;893;p37"/>
          <p:cNvSpPr txBox="1"/>
          <p:nvPr/>
        </p:nvSpPr>
        <p:spPr>
          <a:xfrm>
            <a:off x="676275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CONNECT</a:t>
            </a:r>
            <a:endParaRPr/>
          </a:p>
        </p:txBody>
      </p:sp>
      <p:sp>
        <p:nvSpPr>
          <p:cNvPr id="894" name="Google Shape;894;p37"/>
          <p:cNvSpPr txBox="1"/>
          <p:nvPr/>
        </p:nvSpPr>
        <p:spPr>
          <a:xfrm>
            <a:off x="676275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 launches server over stdio or HTTP session.</a:t>
            </a:r>
            <a:endParaRPr/>
          </a:p>
        </p:txBody>
      </p:sp>
      <p:sp>
        <p:nvSpPr>
          <p:cNvPr id="895" name="Google Shape;895;p37"/>
          <p:cNvSpPr txBox="1"/>
          <p:nvPr/>
        </p:nvSpPr>
        <p:spPr>
          <a:xfrm>
            <a:off x="2281981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HANDSHAKE</a:t>
            </a:r>
            <a:endParaRPr/>
          </a:p>
        </p:txBody>
      </p:sp>
      <p:sp>
        <p:nvSpPr>
          <p:cNvPr id="896" name="Google Shape;896;p37"/>
          <p:cNvSpPr txBox="1"/>
          <p:nvPr/>
        </p:nvSpPr>
        <p:spPr>
          <a:xfrm>
            <a:off x="2281981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initialize protocol &amp; negotiate capabilities.</a:t>
            </a:r>
            <a:endParaRPr/>
          </a:p>
        </p:txBody>
      </p:sp>
      <p:sp>
        <p:nvSpPr>
          <p:cNvPr id="897" name="Google Shape;897;p37"/>
          <p:cNvSpPr txBox="1"/>
          <p:nvPr/>
        </p:nvSpPr>
        <p:spPr>
          <a:xfrm>
            <a:off x="3887688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DISCOVER</a:t>
            </a:r>
            <a:endParaRPr/>
          </a:p>
        </p:txBody>
      </p:sp>
      <p:sp>
        <p:nvSpPr>
          <p:cNvPr id="898" name="Google Shape;898;p37"/>
          <p:cNvSpPr txBox="1"/>
          <p:nvPr/>
        </p:nvSpPr>
        <p:spPr>
          <a:xfrm>
            <a:off x="3887688" y="3400425"/>
            <a:ext cx="130090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tools/list schemas fed into LLM context.</a:t>
            </a:r>
            <a:endParaRPr/>
          </a:p>
        </p:txBody>
      </p:sp>
      <p:sp>
        <p:nvSpPr>
          <p:cNvPr id="899" name="Google Shape;899;p37"/>
          <p:cNvSpPr txBox="1"/>
          <p:nvPr/>
        </p:nvSpPr>
        <p:spPr>
          <a:xfrm>
            <a:off x="5493394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ASK</a:t>
            </a:r>
            <a:endParaRPr/>
          </a:p>
        </p:txBody>
      </p:sp>
      <p:sp>
        <p:nvSpPr>
          <p:cNvPr id="900" name="Google Shape;900;p37"/>
          <p:cNvSpPr txBox="1"/>
          <p:nvPr/>
        </p:nvSpPr>
        <p:spPr>
          <a:xfrm>
            <a:off x="5493394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prompt + tool catalogue evaluated by model.</a:t>
            </a:r>
            <a:endParaRPr/>
          </a:p>
        </p:txBody>
      </p:sp>
      <p:sp>
        <p:nvSpPr>
          <p:cNvPr id="901" name="Google Shape;901;p37"/>
          <p:cNvSpPr txBox="1"/>
          <p:nvPr/>
        </p:nvSpPr>
        <p:spPr>
          <a:xfrm>
            <a:off x="7099101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DECIDE</a:t>
            </a:r>
            <a:endParaRPr/>
          </a:p>
        </p:txBody>
      </p:sp>
      <p:sp>
        <p:nvSpPr>
          <p:cNvPr id="902" name="Google Shape;902;p37"/>
          <p:cNvSpPr txBox="1"/>
          <p:nvPr/>
        </p:nvSpPr>
        <p:spPr>
          <a:xfrm>
            <a:off x="7099101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emits tool call and stops. User approves.</a:t>
            </a:r>
            <a:endParaRPr/>
          </a:p>
        </p:txBody>
      </p:sp>
      <p:sp>
        <p:nvSpPr>
          <p:cNvPr id="903" name="Google Shape;903;p37"/>
          <p:cNvSpPr txBox="1"/>
          <p:nvPr/>
        </p:nvSpPr>
        <p:spPr>
          <a:xfrm>
            <a:off x="8704808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EXECUTE</a:t>
            </a:r>
            <a:endParaRPr/>
          </a:p>
        </p:txBody>
      </p:sp>
      <p:sp>
        <p:nvSpPr>
          <p:cNvPr id="904" name="Google Shape;904;p37"/>
          <p:cNvSpPr txBox="1"/>
          <p:nvPr/>
        </p:nvSpPr>
        <p:spPr>
          <a:xfrm>
            <a:off x="8704808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 executes Python code and returns result.</a:t>
            </a:r>
            <a:endParaRPr/>
          </a:p>
        </p:txBody>
      </p:sp>
      <p:sp>
        <p:nvSpPr>
          <p:cNvPr id="905" name="Google Shape;905;p37"/>
          <p:cNvSpPr txBox="1"/>
          <p:nvPr/>
        </p:nvSpPr>
        <p:spPr>
          <a:xfrm>
            <a:off x="10310514" y="3238500"/>
            <a:ext cx="150707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 ANSWER</a:t>
            </a:r>
            <a:endParaRPr/>
          </a:p>
        </p:txBody>
      </p:sp>
      <p:sp>
        <p:nvSpPr>
          <p:cNvPr id="906" name="Google Shape;906;p37"/>
          <p:cNvSpPr txBox="1"/>
          <p:nvPr/>
        </p:nvSpPr>
        <p:spPr>
          <a:xfrm>
            <a:off x="10310514" y="3400425"/>
            <a:ext cx="130090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 fed into context; model answers user.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"/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8"/>
          <p:cNvSpPr/>
          <p:nvPr/>
        </p:nvSpPr>
        <p:spPr>
          <a:xfrm>
            <a:off x="533400" y="266700"/>
            <a:ext cx="2114550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8"/>
          <p:cNvSpPr/>
          <p:nvPr/>
        </p:nvSpPr>
        <p:spPr>
          <a:xfrm>
            <a:off x="533400" y="5791200"/>
            <a:ext cx="11125200" cy="400050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8"/>
          <p:cNvSpPr/>
          <p:nvPr/>
        </p:nvSpPr>
        <p:spPr>
          <a:xfrm>
            <a:off x="0" y="6381750"/>
            <a:ext cx="12192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8"/>
          <p:cNvSpPr/>
          <p:nvPr/>
        </p:nvSpPr>
        <p:spPr>
          <a:xfrm>
            <a:off x="533400" y="2828925"/>
            <a:ext cx="2652712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8"/>
          <p:cNvSpPr/>
          <p:nvPr/>
        </p:nvSpPr>
        <p:spPr>
          <a:xfrm>
            <a:off x="3357562" y="2828925"/>
            <a:ext cx="2652712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8"/>
          <p:cNvSpPr/>
          <p:nvPr/>
        </p:nvSpPr>
        <p:spPr>
          <a:xfrm>
            <a:off x="6181725" y="2828925"/>
            <a:ext cx="2652712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8"/>
          <p:cNvSpPr/>
          <p:nvPr/>
        </p:nvSpPr>
        <p:spPr>
          <a:xfrm>
            <a:off x="9005887" y="2828925"/>
            <a:ext cx="2652712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8"/>
          <p:cNvSpPr txBox="1"/>
          <p:nvPr/>
        </p:nvSpPr>
        <p:spPr>
          <a:xfrm>
            <a:off x="647700" y="314325"/>
            <a:ext cx="19812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CONSIDERATIONS</a:t>
            </a:r>
            <a:endParaRPr/>
          </a:p>
        </p:txBody>
      </p:sp>
      <p:sp>
        <p:nvSpPr>
          <p:cNvPr id="920" name="Google Shape;920;p38"/>
          <p:cNvSpPr txBox="1"/>
          <p:nvPr/>
        </p:nvSpPr>
        <p:spPr>
          <a:xfrm>
            <a:off x="10306050" y="304800"/>
            <a:ext cx="16906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MANAGEMENT</a:t>
            </a:r>
            <a:endParaRPr/>
          </a:p>
        </p:txBody>
      </p:sp>
      <p:sp>
        <p:nvSpPr>
          <p:cNvPr id="921" name="Google Shape;921;p38"/>
          <p:cNvSpPr txBox="1"/>
          <p:nvPr/>
        </p:nvSpPr>
        <p:spPr>
          <a:xfrm>
            <a:off x="533400" y="6505575"/>
            <a:ext cx="33932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 • CSE TECHNICAL SEMINAR</a:t>
            </a:r>
            <a:endParaRPr/>
          </a:p>
        </p:txBody>
      </p:sp>
      <p:sp>
        <p:nvSpPr>
          <p:cNvPr id="922" name="Google Shape;922;p38"/>
          <p:cNvSpPr txBox="1"/>
          <p:nvPr/>
        </p:nvSpPr>
        <p:spPr>
          <a:xfrm>
            <a:off x="10086975" y="6505575"/>
            <a:ext cx="196453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• CONTEXT BUDGETING</a:t>
            </a:r>
            <a:endParaRPr/>
          </a:p>
        </p:txBody>
      </p:sp>
      <p:sp>
        <p:nvSpPr>
          <p:cNvPr id="923" name="Google Shape;923;p38"/>
          <p:cNvSpPr txBox="1"/>
          <p:nvPr/>
        </p:nvSpPr>
        <p:spPr>
          <a:xfrm>
            <a:off x="533400" y="65722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Context Budget Disappears: Tool Sprawl</a:t>
            </a:r>
            <a:endParaRPr/>
          </a:p>
        </p:txBody>
      </p:sp>
      <p:sp>
        <p:nvSpPr>
          <p:cNvPr id="924" name="Google Shape;924;p38"/>
          <p:cNvSpPr txBox="1"/>
          <p:nvPr/>
        </p:nvSpPr>
        <p:spPr>
          <a:xfrm>
            <a:off x="533400" y="1076325"/>
            <a:ext cx="1165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Install 5 popular servers and every uncalled tool still consumes tokens on every turn:</a:t>
            </a:r>
            <a:endParaRPr/>
          </a:p>
        </p:txBody>
      </p:sp>
      <p:sp>
        <p:nvSpPr>
          <p:cNvPr id="925" name="Google Shape;925;p38"/>
          <p:cNvSpPr txBox="1"/>
          <p:nvPr/>
        </p:nvSpPr>
        <p:spPr>
          <a:xfrm>
            <a:off x="733425" y="5915025"/>
            <a:ext cx="11458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 Sprawl is a Context Leak:</a:t>
            </a:r>
            <a:r>
              <a:rPr lang="en-US" sz="975" b="0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128-tool request ceiling is common in editors. Manage token budgets aggressively.</a:t>
            </a:r>
            <a:endParaRPr/>
          </a:p>
        </p:txBody>
      </p:sp>
      <p:sp>
        <p:nvSpPr>
          <p:cNvPr id="926" name="Google Shape;926;p38"/>
          <p:cNvSpPr txBox="1"/>
          <p:nvPr/>
        </p:nvSpPr>
        <p:spPr>
          <a:xfrm>
            <a:off x="752475" y="3009900"/>
            <a:ext cx="27682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CAP &amp; PAGINATE</a:t>
            </a:r>
            <a:endParaRPr/>
          </a:p>
        </p:txBody>
      </p:sp>
      <p:sp>
        <p:nvSpPr>
          <p:cNvPr id="927" name="Google Shape;927;p38"/>
          <p:cNvSpPr txBox="1"/>
          <p:nvPr/>
        </p:nvSpPr>
        <p:spPr>
          <a:xfrm>
            <a:off x="752475" y="3190875"/>
            <a:ext cx="290661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Hard Limits</a:t>
            </a:r>
            <a:endParaRPr/>
          </a:p>
        </p:txBody>
      </p:sp>
      <p:sp>
        <p:nvSpPr>
          <p:cNvPr id="928" name="Google Shape;928;p38"/>
          <p:cNvSpPr txBox="1"/>
          <p:nvPr/>
        </p:nvSpPr>
        <p:spPr>
          <a:xfrm>
            <a:off x="752475" y="3429000"/>
            <a:ext cx="23098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default limits (e.g. 10 items) and maximums on all list queries. Document both in the tool description.</a:t>
            </a:r>
            <a:endParaRPr/>
          </a:p>
        </p:txBody>
      </p:sp>
      <p:sp>
        <p:nvSpPr>
          <p:cNvPr id="929" name="Google Shape;929;p38"/>
          <p:cNvSpPr txBox="1"/>
          <p:nvPr/>
        </p:nvSpPr>
        <p:spPr>
          <a:xfrm>
            <a:off x="3576637" y="3009900"/>
            <a:ext cx="27682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PROJECT, DON'T DUMP</a:t>
            </a:r>
            <a:endParaRPr/>
          </a:p>
        </p:txBody>
      </p:sp>
      <p:sp>
        <p:nvSpPr>
          <p:cNvPr id="930" name="Google Shape;930;p38"/>
          <p:cNvSpPr txBox="1"/>
          <p:nvPr/>
        </p:nvSpPr>
        <p:spPr>
          <a:xfrm>
            <a:off x="3576637" y="3190875"/>
            <a:ext cx="290661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Selective Fields</a:t>
            </a:r>
            <a:endParaRPr/>
          </a:p>
        </p:txBody>
      </p:sp>
      <p:sp>
        <p:nvSpPr>
          <p:cNvPr id="931" name="Google Shape;931;p38"/>
          <p:cNvSpPr txBox="1"/>
          <p:nvPr/>
        </p:nvSpPr>
        <p:spPr>
          <a:xfrm>
            <a:off x="3576637" y="3429000"/>
            <a:ext cx="23098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 only the 3 fields needed to decide the next step. Full record bodies stay behind a second explicit call.</a:t>
            </a:r>
            <a:endParaRPr/>
          </a:p>
        </p:txBody>
      </p:sp>
      <p:sp>
        <p:nvSpPr>
          <p:cNvPr id="932" name="Google Shape;932;p38"/>
          <p:cNvSpPr txBox="1"/>
          <p:nvPr/>
        </p:nvSpPr>
        <p:spPr>
          <a:xfrm>
            <a:off x="6400800" y="3009900"/>
            <a:ext cx="27682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MAKE LISTS CACHEABLE</a:t>
            </a:r>
            <a:endParaRPr/>
          </a:p>
        </p:txBody>
      </p:sp>
      <p:sp>
        <p:nvSpPr>
          <p:cNvPr id="933" name="Google Shape;933;p38"/>
          <p:cNvSpPr txBox="1"/>
          <p:nvPr/>
        </p:nvSpPr>
        <p:spPr>
          <a:xfrm>
            <a:off x="6400800" y="3190875"/>
            <a:ext cx="290661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 Caching</a:t>
            </a:r>
            <a:endParaRPr/>
          </a:p>
        </p:txBody>
      </p:sp>
      <p:sp>
        <p:nvSpPr>
          <p:cNvPr id="934" name="Google Shape;934;p38"/>
          <p:cNvSpPr txBox="1"/>
          <p:nvPr/>
        </p:nvSpPr>
        <p:spPr>
          <a:xfrm>
            <a:off x="6400800" y="3429000"/>
            <a:ext cx="2309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TTL headers so the MCP client caches capability schemas instead of re-fetching definitions on every turn.</a:t>
            </a:r>
            <a:endParaRPr/>
          </a:p>
        </p:txBody>
      </p:sp>
      <p:sp>
        <p:nvSpPr>
          <p:cNvPr id="935" name="Google Shape;935;p38"/>
          <p:cNvSpPr txBox="1"/>
          <p:nvPr/>
        </p:nvSpPr>
        <p:spPr>
          <a:xfrm>
            <a:off x="9224962" y="3009900"/>
            <a:ext cx="276820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CURATE THE SURFACE</a:t>
            </a:r>
            <a:endParaRPr/>
          </a:p>
        </p:txBody>
      </p:sp>
      <p:sp>
        <p:nvSpPr>
          <p:cNvPr id="936" name="Google Shape;936;p38"/>
          <p:cNvSpPr txBox="1"/>
          <p:nvPr/>
        </p:nvSpPr>
        <p:spPr>
          <a:xfrm>
            <a:off x="9224962" y="3190875"/>
            <a:ext cx="290661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Task-Based Routing</a:t>
            </a:r>
            <a:endParaRPr/>
          </a:p>
        </p:txBody>
      </p:sp>
      <p:sp>
        <p:nvSpPr>
          <p:cNvPr id="937" name="Google Shape;937;p38"/>
          <p:cNvSpPr txBox="1"/>
          <p:nvPr/>
        </p:nvSpPr>
        <p:spPr>
          <a:xfrm>
            <a:off x="9224962" y="3429000"/>
            <a:ext cx="23098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Expose unified tool endpoints and dynamically index tools per task instead of flooding context with 100+ schemas.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66928" y="822960"/>
            <a:ext cx="8183879" cy="5074920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20">
            <a:extLst>
              <a:ext uri="{FF2B5EF4-FFF2-40B4-BE49-F238E27FC236}">
                <a16:creationId xmlns:a16="http://schemas.microsoft.com/office/drawing/2014/main" id="{6E62B238-5CFA-4845-A08E-1F0342B9A146}"/>
              </a:ext>
            </a:extLst>
          </p:cNvPr>
          <p:cNvSpPr/>
          <p:nvPr/>
        </p:nvSpPr>
        <p:spPr>
          <a:xfrm>
            <a:off x="8934026" y="507323"/>
            <a:ext cx="3029407" cy="4626864"/>
          </a:xfrm>
          <a:prstGeom prst="roundRect">
            <a:avLst>
              <a:gd name="adj" fmla="val 3622"/>
            </a:avLst>
          </a:prstGeom>
          <a:solidFill>
            <a:srgbClr val="16181F"/>
          </a:solidFill>
          <a:ln w="12700">
            <a:solidFill>
              <a:srgbClr val="16181F"/>
            </a:solidFill>
            <a:prstDash val="solid"/>
          </a:ln>
          <a:effectLst>
            <a:outerShdw blurRad="1270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qr_flat.png">
            <a:extLst>
              <a:ext uri="{FF2B5EF4-FFF2-40B4-BE49-F238E27FC236}">
                <a16:creationId xmlns:a16="http://schemas.microsoft.com/office/drawing/2014/main" id="{3CD735F1-E071-4C92-A359-470019D3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571" y="883920"/>
            <a:ext cx="2148840" cy="2148840"/>
          </a:xfrm>
          <a:prstGeom prst="rect">
            <a:avLst/>
          </a:prstGeom>
        </p:spPr>
      </p:pic>
      <p:sp>
        <p:nvSpPr>
          <p:cNvPr id="5" name="Text 21">
            <a:extLst>
              <a:ext uri="{FF2B5EF4-FFF2-40B4-BE49-F238E27FC236}">
                <a16:creationId xmlns:a16="http://schemas.microsoft.com/office/drawing/2014/main" id="{A531C5FD-AA50-43AF-B4FD-6658A506B256}"/>
              </a:ext>
            </a:extLst>
          </p:cNvPr>
          <p:cNvSpPr/>
          <p:nvPr/>
        </p:nvSpPr>
        <p:spPr>
          <a:xfrm>
            <a:off x="9153481" y="3381756"/>
            <a:ext cx="2590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itchFamily="34" charset="0"/>
                <a:ea typeface="Arial" pitchFamily="34" charset="-122"/>
                <a:cs typeface="Arial" pitchFamily="34" charset="-120"/>
              </a:rPr>
              <a:t>Slides, demo code, and links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E0C6E3C6-BBCF-4CD0-A6B5-A9E6D2472EB2}"/>
              </a:ext>
            </a:extLst>
          </p:cNvPr>
          <p:cNvSpPr/>
          <p:nvPr/>
        </p:nvSpPr>
        <p:spPr>
          <a:xfrm>
            <a:off x="9181472" y="3692652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itchFamily="34" charset="0"/>
                <a:ea typeface="Courier New" pitchFamily="34" charset="-122"/>
                <a:cs typeface="Courier New" pitchFamily="34" charset="-120"/>
              </a:rPr>
              <a:t>github.com/gouthamnivass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23">
            <a:extLst>
              <a:ext uri="{FF2B5EF4-FFF2-40B4-BE49-F238E27FC236}">
                <a16:creationId xmlns:a16="http://schemas.microsoft.com/office/drawing/2014/main" id="{28FDADD1-09A9-478D-A8CD-F67B23448D7C}"/>
              </a:ext>
            </a:extLst>
          </p:cNvPr>
          <p:cNvSpPr/>
          <p:nvPr/>
        </p:nvSpPr>
        <p:spPr>
          <a:xfrm>
            <a:off x="9208344" y="4289298"/>
            <a:ext cx="2480767" cy="658368"/>
          </a:xfrm>
          <a:prstGeom prst="roundRect">
            <a:avLst>
              <a:gd name="adj" fmla="val 9722"/>
            </a:avLst>
          </a:prstGeom>
          <a:solidFill>
            <a:srgbClr val="2E3340"/>
          </a:solidFill>
          <a:ln w="12700">
            <a:solidFill>
              <a:srgbClr val="2E3340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itchFamily="34" charset="0"/>
                <a:ea typeface="Calibri" pitchFamily="34" charset="-122"/>
                <a:cs typeface="Calibri" pitchFamily="34" charset="-120"/>
              </a:rPr>
              <a:t>Build one. Tell me what broke.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1051560"/>
            <a:ext cx="7498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6233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 takeaways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874519"/>
            <a:ext cx="6720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6233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LLMs predict the next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267712"/>
            <a:ext cx="6812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B5B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They generate language from learned patterns—not by looking up a guaranteed answer.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136392"/>
            <a:ext cx="475488" cy="475488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63240"/>
            <a:ext cx="6720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6233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Context changes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56432"/>
            <a:ext cx="6812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B5B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Tokens are interpreted in relation to surrounding text through contextual representations.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325112"/>
            <a:ext cx="475488" cy="475488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51960"/>
            <a:ext cx="340458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1" i="0" u="none" strike="noStrike" kern="1200" cap="none" spc="0" normalizeH="0" baseline="0" noProof="0" dirty="0">
                <a:ln>
                  <a:noFill/>
                </a:ln>
                <a:solidFill>
                  <a:srgbClr val="16233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 Access is a standard now</a:t>
            </a:r>
            <a:endParaRPr kumimoji="0" sz="1900" b="1" i="0" u="none" strike="noStrike" kern="1200" cap="none" spc="0" normalizeH="0" baseline="0" noProof="0" dirty="0">
              <a:ln>
                <a:noFill/>
              </a:ln>
              <a:solidFill>
                <a:srgbClr val="16233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72768" y="4645152"/>
            <a:ext cx="6812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B5B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gives access to third part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B5B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Apis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4B5B6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778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0"/>
          <p:cNvSpPr/>
          <p:nvPr/>
        </p:nvSpPr>
        <p:spPr>
          <a:xfrm>
            <a:off x="685800" y="5772150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0"/>
          <p:cNvSpPr/>
          <p:nvPr/>
        </p:nvSpPr>
        <p:spPr>
          <a:xfrm>
            <a:off x="685800" y="5772150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0"/>
          <p:cNvSpPr/>
          <p:nvPr/>
        </p:nvSpPr>
        <p:spPr>
          <a:xfrm>
            <a:off x="9353550" y="5981700"/>
            <a:ext cx="2152650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0"/>
          <p:cNvSpPr/>
          <p:nvPr/>
        </p:nvSpPr>
        <p:spPr>
          <a:xfrm>
            <a:off x="685800" y="3752254"/>
            <a:ext cx="3454449" cy="647700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0"/>
          <p:cNvSpPr/>
          <p:nvPr/>
        </p:nvSpPr>
        <p:spPr>
          <a:xfrm>
            <a:off x="4368849" y="3752254"/>
            <a:ext cx="3454449" cy="647700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0"/>
          <p:cNvSpPr/>
          <p:nvPr/>
        </p:nvSpPr>
        <p:spPr>
          <a:xfrm>
            <a:off x="8051899" y="3752254"/>
            <a:ext cx="3454449" cy="647700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0"/>
          <p:cNvSpPr txBox="1"/>
          <p:nvPr/>
        </p:nvSpPr>
        <p:spPr>
          <a:xfrm>
            <a:off x="685800" y="533400"/>
            <a:ext cx="36433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SEMINAR CONCLUSION • OPEN DISCUSSION</a:t>
            </a:r>
            <a:endParaRPr/>
          </a:p>
        </p:txBody>
      </p:sp>
      <p:sp>
        <p:nvSpPr>
          <p:cNvPr id="991" name="Google Shape;991;p40"/>
          <p:cNvSpPr txBox="1"/>
          <p:nvPr/>
        </p:nvSpPr>
        <p:spPr>
          <a:xfrm>
            <a:off x="9791700" y="538162"/>
            <a:ext cx="2143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YEAR CSE MASTERCLASS</a:t>
            </a:r>
            <a:endParaRPr/>
          </a:p>
        </p:txBody>
      </p:sp>
      <p:sp>
        <p:nvSpPr>
          <p:cNvPr id="992" name="Google Shape;992;p40"/>
          <p:cNvSpPr txBox="1"/>
          <p:nvPr/>
        </p:nvSpPr>
        <p:spPr>
          <a:xfrm>
            <a:off x="685800" y="2057995"/>
            <a:ext cx="11461432" cy="100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Questions &amp; Open Discussion</a:t>
            </a:r>
            <a:endParaRPr/>
          </a:p>
        </p:txBody>
      </p:sp>
      <p:sp>
        <p:nvSpPr>
          <p:cNvPr id="993" name="Google Shape;993;p40"/>
          <p:cNvSpPr txBox="1"/>
          <p:nvPr/>
        </p:nvSpPr>
        <p:spPr>
          <a:xfrm>
            <a:off x="685800" y="3237011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next-token probability distributions to protocol-connected agents.</a:t>
            </a:r>
            <a:endParaRPr/>
          </a:p>
        </p:txBody>
      </p:sp>
      <p:sp>
        <p:nvSpPr>
          <p:cNvPr id="994" name="Google Shape;994;p40"/>
          <p:cNvSpPr txBox="1"/>
          <p:nvPr/>
        </p:nvSpPr>
        <p:spPr>
          <a:xfrm>
            <a:off x="9486900" y="6038850"/>
            <a:ext cx="1981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CSE TECHNICAL SEMINAR • 2026</a:t>
            </a: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685800" y="5972175"/>
            <a:ext cx="21669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Goutham Nivass</a:t>
            </a:r>
            <a:endParaRPr/>
          </a:p>
        </p:txBody>
      </p:sp>
      <p:sp>
        <p:nvSpPr>
          <p:cNvPr id="996" name="Google Shape;996;p40"/>
          <p:cNvSpPr txBox="1"/>
          <p:nvPr/>
        </p:nvSpPr>
        <p:spPr>
          <a:xfrm>
            <a:off x="685800" y="6172200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Senior AI Engineer • Cognizant</a:t>
            </a:r>
            <a:endParaRPr/>
          </a:p>
        </p:txBody>
      </p:sp>
      <p:sp>
        <p:nvSpPr>
          <p:cNvPr id="997" name="Google Shape;997;p40"/>
          <p:cNvSpPr txBox="1"/>
          <p:nvPr/>
        </p:nvSpPr>
        <p:spPr>
          <a:xfrm>
            <a:off x="885825" y="3914179"/>
            <a:ext cx="38179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</a:t>
            </a:r>
            <a:endParaRPr/>
          </a:p>
        </p:txBody>
      </p:sp>
      <p:sp>
        <p:nvSpPr>
          <p:cNvPr id="998" name="Google Shape;998;p40"/>
          <p:cNvSpPr txBox="1"/>
          <p:nvPr/>
        </p:nvSpPr>
        <p:spPr>
          <a:xfrm>
            <a:off x="885825" y="4076104"/>
            <a:ext cx="38179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github.com/gouthamnivass</a:t>
            </a:r>
            <a:endParaRPr/>
          </a:p>
        </p:txBody>
      </p:sp>
      <p:sp>
        <p:nvSpPr>
          <p:cNvPr id="999" name="Google Shape;999;p40"/>
          <p:cNvSpPr txBox="1"/>
          <p:nvPr/>
        </p:nvSpPr>
        <p:spPr>
          <a:xfrm>
            <a:off x="4568874" y="3914179"/>
            <a:ext cx="38179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LINKEDIN</a:t>
            </a:r>
            <a:endParaRPr/>
          </a:p>
        </p:txBody>
      </p:sp>
      <p:sp>
        <p:nvSpPr>
          <p:cNvPr id="1000" name="Google Shape;1000;p40"/>
          <p:cNvSpPr txBox="1"/>
          <p:nvPr/>
        </p:nvSpPr>
        <p:spPr>
          <a:xfrm>
            <a:off x="4568874" y="4076104"/>
            <a:ext cx="38179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linkedin.com/in/gouthamnivass</a:t>
            </a:r>
            <a:endParaRPr/>
          </a:p>
        </p:txBody>
      </p:sp>
      <p:sp>
        <p:nvSpPr>
          <p:cNvPr id="1001" name="Google Shape;1001;p40"/>
          <p:cNvSpPr txBox="1"/>
          <p:nvPr/>
        </p:nvSpPr>
        <p:spPr>
          <a:xfrm>
            <a:off x="8251924" y="3914179"/>
            <a:ext cx="38179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</a:t>
            </a:r>
            <a:endParaRPr/>
          </a:p>
        </p:txBody>
      </p:sp>
      <p:sp>
        <p:nvSpPr>
          <p:cNvPr id="1002" name="Google Shape;1002;p40"/>
          <p:cNvSpPr txBox="1"/>
          <p:nvPr/>
        </p:nvSpPr>
        <p:spPr>
          <a:xfrm>
            <a:off x="8251924" y="4076104"/>
            <a:ext cx="38179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gouthamnivass@gmail.com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3776</Words>
  <Application>Microsoft Office PowerPoint</Application>
  <PresentationFormat>Widescreen</PresentationFormat>
  <Paragraphs>451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Plus Jakarta Sans</vt:lpstr>
      <vt:lpstr>Arial</vt:lpstr>
      <vt:lpstr>JetBrains Mono</vt:lpstr>
      <vt:lpstr>Aptos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Goutham</cp:lastModifiedBy>
  <cp:revision>28</cp:revision>
  <dcterms:modified xsi:type="dcterms:W3CDTF">2026-09-29T17:53:02Z</dcterms:modified>
</cp:coreProperties>
</file>